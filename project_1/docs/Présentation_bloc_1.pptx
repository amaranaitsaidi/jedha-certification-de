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70" r:id="rId3"/>
    <p:sldId id="257" r:id="rId4"/>
    <p:sldId id="258" r:id="rId5"/>
    <p:sldId id="259" r:id="rId6"/>
    <p:sldId id="263" r:id="rId7"/>
    <p:sldId id="264" r:id="rId8"/>
    <p:sldId id="266" r:id="rId9"/>
    <p:sldId id="267" r:id="rId10"/>
    <p:sldId id="268" r:id="rId11"/>
    <p:sldId id="269" r:id="rId12"/>
  </p:sldIdLst>
  <p:sldSz cx="9144000" cy="5143500" type="screen16x9"/>
  <p:notesSz cx="6858000" cy="9144000"/>
  <p:embeddedFontLst>
    <p:embeddedFont>
      <p:font typeface="Inter" panose="020B0604020202020204" charset="0"/>
      <p:regular r:id="rId14"/>
      <p:bold r:id="rId15"/>
    </p:embeddedFont>
    <p:embeddedFont>
      <p:font typeface="Inter Medium" panose="020B0604020202020204" charset="0"/>
      <p:regular r:id="rId16"/>
      <p:bold r:id="rId17"/>
    </p:embeddedFont>
    <p:embeddedFont>
      <p:font typeface="Inter SemiBold" panose="020B0604020202020204" charset="0"/>
      <p:regular r:id="rId18"/>
      <p:bold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176" autoAdjust="0"/>
  </p:normalViewPr>
  <p:slideViewPr>
    <p:cSldViewPr snapToGrid="0">
      <p:cViewPr varScale="1">
        <p:scale>
          <a:sx n="88" d="100"/>
          <a:sy n="88" d="100"/>
        </p:scale>
        <p:origin x="130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77af7a6af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77af7a6af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C3C8D9F4-71A1-F956-9E90-E909516504DD}"/>
            </a:ext>
          </a:extLst>
        </p:cNvPr>
        <p:cNvGrpSpPr/>
        <p:nvPr/>
      </p:nvGrpSpPr>
      <p:grpSpPr>
        <a:xfrm>
          <a:off x="0" y="0"/>
          <a:ext cx="0" cy="0"/>
          <a:chOff x="0" y="0"/>
          <a:chExt cx="0" cy="0"/>
        </a:xfrm>
      </p:grpSpPr>
      <p:sp>
        <p:nvSpPr>
          <p:cNvPr id="59" name="Google Shape;59;g3bc3b886ea_0_1:notes">
            <a:extLst>
              <a:ext uri="{FF2B5EF4-FFF2-40B4-BE49-F238E27FC236}">
                <a16:creationId xmlns:a16="http://schemas.microsoft.com/office/drawing/2014/main" id="{5761E269-B4F0-D065-E6CE-6813C4269E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bc3b886ea_0_1:notes">
            <a:extLst>
              <a:ext uri="{FF2B5EF4-FFF2-40B4-BE49-F238E27FC236}">
                <a16:creationId xmlns:a16="http://schemas.microsoft.com/office/drawing/2014/main" id="{A96C87EE-6B4D-43F3-1A49-61ADAC7A1D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688526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bc3b886ea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bc3b886ea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bc3b886ea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bc3b886ea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Revoir le style </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f4f11f959e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gf4f11f959e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a:extLst>
            <a:ext uri="{FF2B5EF4-FFF2-40B4-BE49-F238E27FC236}">
              <a16:creationId xmlns:a16="http://schemas.microsoft.com/office/drawing/2014/main" id="{C834F505-EB84-CCDD-18B6-FCDDA5CEFEE5}"/>
            </a:ext>
          </a:extLst>
        </p:cNvPr>
        <p:cNvGrpSpPr/>
        <p:nvPr/>
      </p:nvGrpSpPr>
      <p:grpSpPr>
        <a:xfrm>
          <a:off x="0" y="0"/>
          <a:ext cx="0" cy="0"/>
          <a:chOff x="0" y="0"/>
          <a:chExt cx="0" cy="0"/>
        </a:xfrm>
      </p:grpSpPr>
      <p:sp>
        <p:nvSpPr>
          <p:cNvPr id="65" name="Google Shape;65;g3bc3b886ea_0_7:notes">
            <a:extLst>
              <a:ext uri="{FF2B5EF4-FFF2-40B4-BE49-F238E27FC236}">
                <a16:creationId xmlns:a16="http://schemas.microsoft.com/office/drawing/2014/main" id="{A6B5AAA6-B2C3-9FDA-D766-B58ED2E695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bc3b886ea_0_7:notes">
            <a:extLst>
              <a:ext uri="{FF2B5EF4-FFF2-40B4-BE49-F238E27FC236}">
                <a16:creationId xmlns:a16="http://schemas.microsoft.com/office/drawing/2014/main" id="{DAC0D534-0256-88FA-0DEA-2FF0C785CD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06978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a:extLst>
            <a:ext uri="{FF2B5EF4-FFF2-40B4-BE49-F238E27FC236}">
              <a16:creationId xmlns:a16="http://schemas.microsoft.com/office/drawing/2014/main" id="{D63992F0-C0A0-7080-FD70-728C4E4E7F2E}"/>
            </a:ext>
          </a:extLst>
        </p:cNvPr>
        <p:cNvGrpSpPr/>
        <p:nvPr/>
      </p:nvGrpSpPr>
      <p:grpSpPr>
        <a:xfrm>
          <a:off x="0" y="0"/>
          <a:ext cx="0" cy="0"/>
          <a:chOff x="0" y="0"/>
          <a:chExt cx="0" cy="0"/>
        </a:xfrm>
      </p:grpSpPr>
      <p:sp>
        <p:nvSpPr>
          <p:cNvPr id="65" name="Google Shape;65;g3bc3b886ea_0_7:notes">
            <a:extLst>
              <a:ext uri="{FF2B5EF4-FFF2-40B4-BE49-F238E27FC236}">
                <a16:creationId xmlns:a16="http://schemas.microsoft.com/office/drawing/2014/main" id="{8E146DBA-2A54-7BF9-B00D-FFA459937B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bc3b886ea_0_7:notes">
            <a:extLst>
              <a:ext uri="{FF2B5EF4-FFF2-40B4-BE49-F238E27FC236}">
                <a16:creationId xmlns:a16="http://schemas.microsoft.com/office/drawing/2014/main" id="{460D8F9C-AC4A-B057-16EF-289D178751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fr-FR" dirty="0"/>
              <a:t>Premier constat frappant : 76% des avis sont des 5 étoiles, contre seulement 7% d'avis très négatifs. C'est un biais structurel d'Amazon - les clients satisfaits s'expriment davantage.</a:t>
            </a:r>
          </a:p>
          <a:p>
            <a:r>
              <a:rPr lang="fr-FR" dirty="0"/>
              <a:t>Regardez cette progression : plus le client est satisfait, plus il ajoute des photos. Seulement 8% des avis négatifs contiennent une image, contre 36% pour les 5 étoiles. C'est un indicateur fiable d'engagement que nous exploitons.</a:t>
            </a:r>
          </a:p>
          <a:p>
            <a:r>
              <a:rPr lang="fr-FR" dirty="0"/>
              <a:t>La majorité des avis sont extrêmement courts - médiane de 44 caractères seulement. Fait intéressant, les avis 2 étoiles sont les plus détaillés avec 186 caractères en moyenne. Les clients modérément déçus s'expliquent davantage, fournissant des insights précieux.</a:t>
            </a:r>
          </a:p>
          <a:p>
            <a:r>
              <a:rPr lang="fr-FR" dirty="0"/>
              <a:t>Notre modèle valorise donc la présence d'images comme signal de qualité, accorde une attention particulière aux avis de longueur intermédiaire, et compense le déséquilibre naturel en faveur des avis positifs.</a:t>
            </a:r>
          </a:p>
        </p:txBody>
      </p:sp>
    </p:spTree>
    <p:extLst>
      <p:ext uri="{BB962C8B-B14F-4D97-AF65-F5344CB8AC3E}">
        <p14:creationId xmlns:p14="http://schemas.microsoft.com/office/powerpoint/2010/main" val="721209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7454AAEC-7814-00E6-49C5-1E98BCCC842A}"/>
            </a:ext>
          </a:extLst>
        </p:cNvPr>
        <p:cNvGrpSpPr/>
        <p:nvPr/>
      </p:nvGrpSpPr>
      <p:grpSpPr>
        <a:xfrm>
          <a:off x="0" y="0"/>
          <a:ext cx="0" cy="0"/>
          <a:chOff x="0" y="0"/>
          <a:chExt cx="0" cy="0"/>
        </a:xfrm>
      </p:grpSpPr>
      <p:sp>
        <p:nvSpPr>
          <p:cNvPr id="59" name="Google Shape;59;g3bc3b886ea_0_1:notes">
            <a:extLst>
              <a:ext uri="{FF2B5EF4-FFF2-40B4-BE49-F238E27FC236}">
                <a16:creationId xmlns:a16="http://schemas.microsoft.com/office/drawing/2014/main" id="{80E6C5CB-D5DD-0239-1925-8DD20F134A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bc3b886ea_0_1:notes">
            <a:extLst>
              <a:ext uri="{FF2B5EF4-FFF2-40B4-BE49-F238E27FC236}">
                <a16:creationId xmlns:a16="http://schemas.microsoft.com/office/drawing/2014/main" id="{41F12C0F-A01C-32BD-44A9-E2C7ABCF58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"Pour calculer le score de pertinence de chaque avis, nous avons combiné plusieurs critères, chacun avec un poids spécifique.</a:t>
            </a:r>
            <a:br>
              <a:rPr lang="fr-FR" dirty="0"/>
            </a:br>
            <a:r>
              <a:rPr lang="fr-FR" dirty="0"/>
              <a:t>La longueur du texte est importante car un avis détaillé donne plus d’informations aux autres clients. Les images sont un indicateur fort d’engagement, surtout que leur présence varie beaucoup selon la note. Les avis issus de commandes vérifiées sont tous présents ici, donc ce critère ne nous distingue pas beaucoup dans ce jeu de données, mais il reste pertinent pour d’autres contextes.</a:t>
            </a:r>
            <a:br>
              <a:rPr lang="fr-FR" dirty="0"/>
            </a:br>
            <a:r>
              <a:rPr lang="fr-FR" dirty="0"/>
              <a:t>Nous avons également valorisé les notes extrêmes car elles reflètent souvent des expériences très positives ou très négatives, et enfin, le score de sentiment nous aide à identifier les nuances dans les avis intermédiaires.</a:t>
            </a:r>
            <a:br>
              <a:rPr lang="fr-FR" dirty="0"/>
            </a:br>
            <a:r>
              <a:rPr lang="fr-FR" dirty="0"/>
              <a:t>Ces pondérations ont été choisies pour équilibrer qualité et représentativité des avis et peuvent être ajustées selon les spécificités du </a:t>
            </a:r>
            <a:r>
              <a:rPr lang="fr-FR" dirty="0" err="1"/>
              <a:t>dataset</a:t>
            </a:r>
            <a:r>
              <a:rPr lang="fr-FR" dirty="0"/>
              <a:t>.</a:t>
            </a:r>
            <a:endParaRPr dirty="0"/>
          </a:p>
        </p:txBody>
      </p:sp>
    </p:spTree>
    <p:extLst>
      <p:ext uri="{BB962C8B-B14F-4D97-AF65-F5344CB8AC3E}">
        <p14:creationId xmlns:p14="http://schemas.microsoft.com/office/powerpoint/2010/main" val="12345249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34FF7759-736F-CDF5-BC0D-442AA38C28FB}"/>
            </a:ext>
          </a:extLst>
        </p:cNvPr>
        <p:cNvGrpSpPr/>
        <p:nvPr/>
      </p:nvGrpSpPr>
      <p:grpSpPr>
        <a:xfrm>
          <a:off x="0" y="0"/>
          <a:ext cx="0" cy="0"/>
          <a:chOff x="0" y="0"/>
          <a:chExt cx="0" cy="0"/>
        </a:xfrm>
      </p:grpSpPr>
      <p:sp>
        <p:nvSpPr>
          <p:cNvPr id="59" name="Google Shape;59;g3bc3b886ea_0_1:notes">
            <a:extLst>
              <a:ext uri="{FF2B5EF4-FFF2-40B4-BE49-F238E27FC236}">
                <a16:creationId xmlns:a16="http://schemas.microsoft.com/office/drawing/2014/main" id="{67D84F7A-E7E9-B486-7BB7-9020A0E033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bc3b886ea_0_1:notes">
            <a:extLst>
              <a:ext uri="{FF2B5EF4-FFF2-40B4-BE49-F238E27FC236}">
                <a16:creationId xmlns:a16="http://schemas.microsoft.com/office/drawing/2014/main" id="{0F28E55B-7CBE-06A7-36ED-3688B9CFA5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Notre seuil de 76,4 (75e percentile) est justifié par trois observations clés : </a:t>
            </a:r>
          </a:p>
          <a:p>
            <a:pPr marL="0" lvl="0" indent="0" algn="l" rtl="0">
              <a:spcBef>
                <a:spcPts val="0"/>
              </a:spcBef>
              <a:spcAft>
                <a:spcPts val="0"/>
              </a:spcAft>
              <a:buNone/>
            </a:pPr>
            <a:endParaRPr lang="fr-FR" dirty="0"/>
          </a:p>
          <a:p>
            <a:pPr marL="228600" lvl="0" indent="-228600" algn="l" rtl="0">
              <a:spcBef>
                <a:spcPts val="0"/>
              </a:spcBef>
              <a:spcAft>
                <a:spcPts val="0"/>
              </a:spcAft>
              <a:buAutoNum type="arabicParenR"/>
            </a:pPr>
            <a:r>
              <a:rPr lang="fr-FR" b="1" dirty="0"/>
              <a:t>La distribution bimodale</a:t>
            </a:r>
            <a:r>
              <a:rPr lang="fr-FR" dirty="0"/>
              <a:t> du score révèle deux populations distinctes d'avis, avec un premier pic autour de 60 et un second autour de 80, permettant une séparation naturelle des avis les plus informatifs</a:t>
            </a:r>
          </a:p>
          <a:p>
            <a:pPr marL="228600" lvl="0" indent="-228600" algn="l" rtl="0">
              <a:spcBef>
                <a:spcPts val="0"/>
              </a:spcBef>
              <a:spcAft>
                <a:spcPts val="0"/>
              </a:spcAft>
              <a:buAutoNum type="arabicParenR"/>
            </a:pPr>
            <a:endParaRPr lang="fr-FR" dirty="0"/>
          </a:p>
          <a:p>
            <a:pPr marL="228600" lvl="0" indent="-228600" algn="l" rtl="0">
              <a:spcBef>
                <a:spcPts val="0"/>
              </a:spcBef>
              <a:spcAft>
                <a:spcPts val="0"/>
              </a:spcAft>
              <a:buAutoNum type="arabicParenR"/>
            </a:pPr>
            <a:r>
              <a:rPr lang="fr-FR" dirty="0"/>
              <a:t> Comme le montre le </a:t>
            </a:r>
            <a:r>
              <a:rPr lang="fr-FR" dirty="0" err="1"/>
              <a:t>boxplot</a:t>
            </a:r>
            <a:r>
              <a:rPr lang="fr-FR" dirty="0"/>
              <a:t>, le seuil de 76,4 est positionné de façon à inclure majoritairement les avis 5★ de qualité supérieure (dont la médiane est proche de 70) tout en ne retenant que les meilleurs avis des autres ratings (particulièrement ceux de 1★ à 4★ qui dépassent leurs quartiles supérieurs respectifs). Cette sélection nous assure d'obtenir principalement des avis positifs détaillés mais aussi les critiques les plus constructives.</a:t>
            </a:r>
          </a:p>
          <a:p>
            <a:pPr marL="228600" lvl="0" indent="-228600" algn="l" rtl="0">
              <a:spcBef>
                <a:spcPts val="0"/>
              </a:spcBef>
              <a:spcAft>
                <a:spcPts val="0"/>
              </a:spcAft>
              <a:buAutoNum type="arabicParenR"/>
            </a:pPr>
            <a:endParaRPr lang="fr-FR" dirty="0"/>
          </a:p>
          <a:p>
            <a:pPr marL="228600" lvl="0" indent="-228600" algn="l" rtl="0">
              <a:spcBef>
                <a:spcPts val="0"/>
              </a:spcBef>
              <a:spcAft>
                <a:spcPts val="0"/>
              </a:spcAft>
              <a:buAutoNum type="arabicParenR"/>
            </a:pPr>
            <a:r>
              <a:rPr lang="fr-FR" dirty="0"/>
              <a:t> En fixant le seuil au 75ème percentile, nous réduisons notre analyse à seulement un quart des données (environ 25% des 2592 avis), ce qui permet de concentrer les ressources sur approximativement 650 avis de haute qualité au lieu de traiter l'ensemble du corpus. Cette approche équilibrée maximise l'extraction d'informations utiles tout en minimisant l'effort de traitement.</a:t>
            </a:r>
          </a:p>
          <a:p>
            <a:pPr marL="228600" lvl="0" indent="-228600" algn="l" rtl="0">
              <a:spcBef>
                <a:spcPts val="0"/>
              </a:spcBef>
              <a:spcAft>
                <a:spcPts val="0"/>
              </a:spcAft>
              <a:buAutoNum type="arabicParenR"/>
            </a:pPr>
            <a:endParaRPr lang="fr-FR" dirty="0"/>
          </a:p>
          <a:p>
            <a:pPr marL="228600" lvl="0" indent="-228600" algn="l" rtl="0">
              <a:spcBef>
                <a:spcPts val="0"/>
              </a:spcBef>
              <a:spcAft>
                <a:spcPts val="0"/>
              </a:spcAft>
              <a:buAutoNum type="arabicParenR"/>
            </a:pPr>
            <a:endParaRPr lang="fr-FR" dirty="0"/>
          </a:p>
          <a:p>
            <a:pPr marL="0" lvl="0" indent="0" algn="l" rtl="0">
              <a:spcBef>
                <a:spcPts val="0"/>
              </a:spcBef>
              <a:spcAft>
                <a:spcPts val="0"/>
              </a:spcAft>
              <a:buNone/>
            </a:pPr>
            <a:r>
              <a:rPr lang="fr-FR" dirty="0"/>
              <a:t>Justification de la méthode : </a:t>
            </a:r>
            <a:br>
              <a:rPr lang="fr-FR" dirty="0"/>
            </a:br>
            <a:br>
              <a:rPr lang="fr-FR" dirty="0"/>
            </a:br>
            <a:r>
              <a:rPr lang="fr-FR" dirty="0"/>
              <a:t>Notre approche suit le principe de Pareto où environ 20% des données contiennent 80% de la valeur informationnelle. De plus, nous ne supprimons pas ces données - elles restent disponibles pour des analyses complémentaires si nécessaire. Cette méthode de filtrage améliore en fait la précision de nos modèles NLP qui fonctionnent mieux avec des textes plus riches en contexte, tout en réduisant le bruit statistique qui pourrait fausser les résultats.</a:t>
            </a:r>
            <a:endParaRPr dirty="0"/>
          </a:p>
        </p:txBody>
      </p:sp>
    </p:spTree>
    <p:extLst>
      <p:ext uri="{BB962C8B-B14F-4D97-AF65-F5344CB8AC3E}">
        <p14:creationId xmlns:p14="http://schemas.microsoft.com/office/powerpoint/2010/main" val="21407101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8E57981E-4AB5-2148-EFA6-9DA898E9814A}"/>
            </a:ext>
          </a:extLst>
        </p:cNvPr>
        <p:cNvGrpSpPr/>
        <p:nvPr/>
      </p:nvGrpSpPr>
      <p:grpSpPr>
        <a:xfrm>
          <a:off x="0" y="0"/>
          <a:ext cx="0" cy="0"/>
          <a:chOff x="0" y="0"/>
          <a:chExt cx="0" cy="0"/>
        </a:xfrm>
      </p:grpSpPr>
      <p:sp>
        <p:nvSpPr>
          <p:cNvPr id="59" name="Google Shape;59;g3bc3b886ea_0_1:notes">
            <a:extLst>
              <a:ext uri="{FF2B5EF4-FFF2-40B4-BE49-F238E27FC236}">
                <a16:creationId xmlns:a16="http://schemas.microsoft.com/office/drawing/2014/main" id="{51C04232-ADB5-B647-FD1E-9743A42ACF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bc3b886ea_0_1:notes">
            <a:extLst>
              <a:ext uri="{FF2B5EF4-FFF2-40B4-BE49-F238E27FC236}">
                <a16:creationId xmlns:a16="http://schemas.microsoft.com/office/drawing/2014/main" id="{18737074-BC80-DA12-B8DA-D8D8CB3993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Cette diapositive résume les principales limites de notre prototype. Nous avons travaillé sur un échantillon restreint, et certaines caractéristiques des données, comme la forte dominance des 5 étoiles ou la courte longueur de la moitié des avis, peuvent biaiser notre scoring. De plus, notre approche actuelle ne capture pas totalement le contexte sémantique des avis.</a:t>
            </a:r>
          </a:p>
          <a:p>
            <a:pPr marL="0" lvl="0" indent="0" algn="l" rtl="0">
              <a:spcBef>
                <a:spcPts val="0"/>
              </a:spcBef>
              <a:spcAft>
                <a:spcPts val="0"/>
              </a:spcAft>
              <a:buNone/>
            </a:pPr>
            <a:endParaRPr lang="fr-FR" dirty="0"/>
          </a:p>
          <a:p>
            <a:pPr marL="0" lvl="0" indent="0" algn="l" rtl="0">
              <a:spcBef>
                <a:spcPts val="0"/>
              </a:spcBef>
              <a:spcAft>
                <a:spcPts val="0"/>
              </a:spcAft>
              <a:buNone/>
            </a:pPr>
            <a:r>
              <a:rPr lang="fr-FR" dirty="0"/>
              <a:t>.</a:t>
            </a:r>
            <a:endParaRPr dirty="0"/>
          </a:p>
        </p:txBody>
      </p:sp>
    </p:spTree>
    <p:extLst>
      <p:ext uri="{BB962C8B-B14F-4D97-AF65-F5344CB8AC3E}">
        <p14:creationId xmlns:p14="http://schemas.microsoft.com/office/powerpoint/2010/main" val="8839423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AFD2C936-C0D7-F4D6-DB96-087F52A9280D}"/>
            </a:ext>
          </a:extLst>
        </p:cNvPr>
        <p:cNvGrpSpPr/>
        <p:nvPr/>
      </p:nvGrpSpPr>
      <p:grpSpPr>
        <a:xfrm>
          <a:off x="0" y="0"/>
          <a:ext cx="0" cy="0"/>
          <a:chOff x="0" y="0"/>
          <a:chExt cx="0" cy="0"/>
        </a:xfrm>
      </p:grpSpPr>
      <p:sp>
        <p:nvSpPr>
          <p:cNvPr id="59" name="Google Shape;59;g3bc3b886ea_0_1:notes">
            <a:extLst>
              <a:ext uri="{FF2B5EF4-FFF2-40B4-BE49-F238E27FC236}">
                <a16:creationId xmlns:a16="http://schemas.microsoft.com/office/drawing/2014/main" id="{3C6D0A64-7CE2-B00C-70F9-0D9F6B797C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bc3b886ea_0_1:notes">
            <a:extLst>
              <a:ext uri="{FF2B5EF4-FFF2-40B4-BE49-F238E27FC236}">
                <a16:creationId xmlns:a16="http://schemas.microsoft.com/office/drawing/2014/main" id="{195412B9-EF02-F9A4-6B8F-ABCDF996F5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Pour y remédier, nous envisageons d’intégrer un modèle </a:t>
            </a:r>
            <a:r>
              <a:rPr lang="fr-FR" dirty="0" err="1"/>
              <a:t>zero</a:t>
            </a:r>
            <a:r>
              <a:rPr lang="fr-FR" dirty="0"/>
              <a:t>-shot, de filtrer les avis trop courts, et de réévaluer les pondérations. Ces ajustements justifient le passage à un pipeline ETL complet, que nous présenterons ensuite, permettant un traitement à grande échelle et des analyses plus fiables</a:t>
            </a:r>
            <a:endParaRPr dirty="0"/>
          </a:p>
        </p:txBody>
      </p:sp>
    </p:spTree>
    <p:extLst>
      <p:ext uri="{BB962C8B-B14F-4D97-AF65-F5344CB8AC3E}">
        <p14:creationId xmlns:p14="http://schemas.microsoft.com/office/powerpoint/2010/main" val="30032712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735475" y="1710025"/>
            <a:ext cx="6478200" cy="61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 sz="2800" dirty="0">
                <a:solidFill>
                  <a:srgbClr val="0E3449"/>
                </a:solidFill>
                <a:latin typeface="Inter SemiBold"/>
                <a:ea typeface="Inter SemiBold"/>
                <a:cs typeface="Inter SemiBold"/>
                <a:sym typeface="Inter SemiBold"/>
              </a:rPr>
              <a:t>Analyse des avis produits Amazon</a:t>
            </a:r>
            <a:endParaRPr sz="2800" dirty="0">
              <a:solidFill>
                <a:srgbClr val="0E3449"/>
              </a:solidFill>
              <a:latin typeface="Inter SemiBold"/>
              <a:ea typeface="Inter SemiBold"/>
              <a:cs typeface="Inter SemiBold"/>
              <a:sym typeface="Inter SemiBold"/>
            </a:endParaRPr>
          </a:p>
        </p:txBody>
      </p:sp>
      <p:pic>
        <p:nvPicPr>
          <p:cNvPr id="55" name="Google Shape;55;p13"/>
          <p:cNvPicPr preferRelativeResize="0"/>
          <p:nvPr/>
        </p:nvPicPr>
        <p:blipFill>
          <a:blip r:embed="rId3">
            <a:alphaModFix/>
          </a:blip>
          <a:stretch>
            <a:fillRect/>
          </a:stretch>
        </p:blipFill>
        <p:spPr>
          <a:xfrm>
            <a:off x="4685550" y="2595750"/>
            <a:ext cx="3818450" cy="2547749"/>
          </a:xfrm>
          <a:prstGeom prst="rect">
            <a:avLst/>
          </a:prstGeom>
          <a:noFill/>
          <a:ln>
            <a:noFill/>
          </a:ln>
        </p:spPr>
      </p:pic>
      <p:pic>
        <p:nvPicPr>
          <p:cNvPr id="56" name="Google Shape;56;p13"/>
          <p:cNvPicPr preferRelativeResize="0"/>
          <p:nvPr/>
        </p:nvPicPr>
        <p:blipFill>
          <a:blip r:embed="rId4">
            <a:alphaModFix/>
          </a:blip>
          <a:stretch>
            <a:fillRect/>
          </a:stretch>
        </p:blipFill>
        <p:spPr>
          <a:xfrm>
            <a:off x="840550" y="787375"/>
            <a:ext cx="973275" cy="651050"/>
          </a:xfrm>
          <a:prstGeom prst="rect">
            <a:avLst/>
          </a:prstGeom>
          <a:noFill/>
          <a:ln>
            <a:noFill/>
          </a:ln>
        </p:spPr>
      </p:pic>
      <p:sp>
        <p:nvSpPr>
          <p:cNvPr id="2" name="ZoneTexte 1">
            <a:extLst>
              <a:ext uri="{FF2B5EF4-FFF2-40B4-BE49-F238E27FC236}">
                <a16:creationId xmlns:a16="http://schemas.microsoft.com/office/drawing/2014/main" id="{28D704EB-C588-4122-7843-D7D019BEE890}"/>
              </a:ext>
            </a:extLst>
          </p:cNvPr>
          <p:cNvSpPr txBox="1"/>
          <p:nvPr/>
        </p:nvSpPr>
        <p:spPr>
          <a:xfrm>
            <a:off x="735475" y="2346130"/>
            <a:ext cx="5701499" cy="1523494"/>
          </a:xfrm>
          <a:prstGeom prst="rect">
            <a:avLst/>
          </a:prstGeom>
          <a:noFill/>
        </p:spPr>
        <p:txBody>
          <a:bodyPr wrap="square" rtlCol="0">
            <a:spAutoFit/>
          </a:bodyPr>
          <a:lstStyle/>
          <a:p>
            <a:br>
              <a:rPr lang="fr-FR" sz="900" dirty="0">
                <a:solidFill>
                  <a:schemeClr val="lt1"/>
                </a:solidFill>
                <a:latin typeface="Inter Medium"/>
                <a:ea typeface="Inter Medium"/>
                <a:cs typeface="Inter Medium"/>
                <a:sym typeface="Inter Medium"/>
              </a:rPr>
            </a:br>
            <a:r>
              <a:rPr lang="fr-FR" dirty="0">
                <a:solidFill>
                  <a:schemeClr val="lt1"/>
                </a:solidFill>
                <a:latin typeface="Inter Medium"/>
                <a:ea typeface="Inter Medium"/>
                <a:cs typeface="Inter Medium"/>
                <a:sym typeface="Inter Medium"/>
              </a:rPr>
              <a:t>Auteur : Amara NAIT SAIDI</a:t>
            </a:r>
            <a:br>
              <a:rPr lang="fr-FR" dirty="0">
                <a:solidFill>
                  <a:schemeClr val="lt1"/>
                </a:solidFill>
                <a:latin typeface="Inter Medium"/>
                <a:ea typeface="Inter Medium"/>
                <a:cs typeface="Inter Medium"/>
                <a:sym typeface="Inter Medium"/>
              </a:rPr>
            </a:br>
            <a:r>
              <a:rPr lang="fr-FR" dirty="0">
                <a:solidFill>
                  <a:schemeClr val="lt1"/>
                </a:solidFill>
                <a:latin typeface="Inter Medium"/>
                <a:ea typeface="Inter Medium"/>
                <a:cs typeface="Inter Medium"/>
                <a:sym typeface="Inter Medium"/>
              </a:rPr>
              <a:t>Date : 04/11/2025</a:t>
            </a:r>
            <a:br>
              <a:rPr lang="fr-FR" sz="2800" dirty="0">
                <a:solidFill>
                  <a:schemeClr val="lt1"/>
                </a:solidFill>
                <a:latin typeface="Inter Medium"/>
                <a:ea typeface="Inter Medium"/>
                <a:cs typeface="Inter Medium"/>
                <a:sym typeface="Inter Medium"/>
              </a:rPr>
            </a:br>
            <a:r>
              <a:rPr lang="fr-FR" dirty="0">
                <a:solidFill>
                  <a:schemeClr val="lt1"/>
                </a:solidFill>
                <a:latin typeface="Inter Medium"/>
                <a:ea typeface="Inter Medium"/>
                <a:cs typeface="Inter Medium"/>
                <a:sym typeface="Inter Medium"/>
              </a:rPr>
              <a:t>Objectifs : Présenter les cas d’usages, la sélection des données et la solution technique</a:t>
            </a:r>
            <a:br>
              <a:rPr lang="fr-FR" dirty="0">
                <a:solidFill>
                  <a:schemeClr val="lt1"/>
                </a:solidFill>
                <a:latin typeface="Inter Medium"/>
                <a:ea typeface="Inter Medium"/>
                <a:cs typeface="Inter Medium"/>
                <a:sym typeface="Inter Medium"/>
              </a:rPr>
            </a:br>
            <a:endParaRPr lang="fr-FR" dirty="0">
              <a:solidFill>
                <a:schemeClr val="lt1"/>
              </a:solidFill>
              <a:latin typeface="Inter Medium"/>
              <a:ea typeface="Inter Medium"/>
              <a:cs typeface="Inter Medium"/>
              <a:sym typeface="Inter Medium"/>
            </a:endParaRPr>
          </a:p>
          <a:p>
            <a:endParaRPr lang="fr-F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85A2EE75-AA5F-742B-2D9E-32DBE7477F89}"/>
            </a:ext>
          </a:extLst>
        </p:cNvPr>
        <p:cNvGrpSpPr/>
        <p:nvPr/>
      </p:nvGrpSpPr>
      <p:grpSpPr>
        <a:xfrm>
          <a:off x="0" y="0"/>
          <a:ext cx="0" cy="0"/>
          <a:chOff x="0" y="0"/>
          <a:chExt cx="0" cy="0"/>
        </a:xfrm>
      </p:grpSpPr>
      <p:sp>
        <p:nvSpPr>
          <p:cNvPr id="62" name="Google Shape;62;p14">
            <a:extLst>
              <a:ext uri="{FF2B5EF4-FFF2-40B4-BE49-F238E27FC236}">
                <a16:creationId xmlns:a16="http://schemas.microsoft.com/office/drawing/2014/main" id="{BF9F3A47-B3AE-844C-512B-6F5A0E463E80}"/>
              </a:ext>
            </a:extLst>
          </p:cNvPr>
          <p:cNvSpPr txBox="1">
            <a:spLocks noGrp="1"/>
          </p:cNvSpPr>
          <p:nvPr>
            <p:ph type="ctrTitle" idx="4294967295"/>
          </p:nvPr>
        </p:nvSpPr>
        <p:spPr>
          <a:xfrm>
            <a:off x="564486" y="825519"/>
            <a:ext cx="5301055" cy="48864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1800" b="1" dirty="0">
                <a:solidFill>
                  <a:srgbClr val="0E3449"/>
                </a:solidFill>
                <a:latin typeface="Inter"/>
                <a:ea typeface="Inter"/>
                <a:cs typeface="Inter"/>
                <a:sym typeface="Inter"/>
              </a:rPr>
              <a:t>Problématique &amp; Objectifs du projet</a:t>
            </a:r>
          </a:p>
        </p:txBody>
      </p:sp>
      <p:pic>
        <p:nvPicPr>
          <p:cNvPr id="63" name="Google Shape;63;p14">
            <a:extLst>
              <a:ext uri="{FF2B5EF4-FFF2-40B4-BE49-F238E27FC236}">
                <a16:creationId xmlns:a16="http://schemas.microsoft.com/office/drawing/2014/main" id="{70D8A2EF-CE6E-EB46-4E58-437087F7D561}"/>
              </a:ext>
            </a:extLst>
          </p:cNvPr>
          <p:cNvPicPr preferRelativeResize="0"/>
          <p:nvPr/>
        </p:nvPicPr>
        <p:blipFill>
          <a:blip r:embed="rId3">
            <a:alphaModFix/>
          </a:blip>
          <a:stretch>
            <a:fillRect/>
          </a:stretch>
        </p:blipFill>
        <p:spPr>
          <a:xfrm>
            <a:off x="448506" y="289900"/>
            <a:ext cx="576900" cy="385904"/>
          </a:xfrm>
          <a:prstGeom prst="rect">
            <a:avLst/>
          </a:prstGeom>
          <a:noFill/>
          <a:ln>
            <a:noFill/>
          </a:ln>
        </p:spPr>
      </p:pic>
      <p:sp>
        <p:nvSpPr>
          <p:cNvPr id="3" name="ZoneTexte 2">
            <a:extLst>
              <a:ext uri="{FF2B5EF4-FFF2-40B4-BE49-F238E27FC236}">
                <a16:creationId xmlns:a16="http://schemas.microsoft.com/office/drawing/2014/main" id="{14F9480F-932A-F245-7D53-6199FA0D79BB}"/>
              </a:ext>
            </a:extLst>
          </p:cNvPr>
          <p:cNvSpPr txBox="1"/>
          <p:nvPr/>
        </p:nvSpPr>
        <p:spPr>
          <a:xfrm>
            <a:off x="564487" y="1314170"/>
            <a:ext cx="7910440" cy="3539430"/>
          </a:xfrm>
          <a:prstGeom prst="rect">
            <a:avLst/>
          </a:prstGeom>
          <a:noFill/>
        </p:spPr>
        <p:txBody>
          <a:bodyPr wrap="square" rtlCol="0">
            <a:spAutoFit/>
          </a:bodyPr>
          <a:lstStyle/>
          <a:p>
            <a:r>
              <a:rPr lang="fr-FR" b="1" dirty="0"/>
              <a:t>💬 Problématique :</a:t>
            </a:r>
            <a:r>
              <a:rPr lang="fr-FR" dirty="0"/>
              <a:t>  </a:t>
            </a:r>
          </a:p>
          <a:p>
            <a:endParaRPr lang="fr-FR" dirty="0"/>
          </a:p>
          <a:p>
            <a:r>
              <a:rPr lang="fr-FR" dirty="0"/>
              <a:t>	fiabiliser et valoriser les avis produits Amazon</a:t>
            </a:r>
          </a:p>
          <a:p>
            <a:endParaRPr lang="fr-FR" dirty="0"/>
          </a:p>
          <a:p>
            <a:r>
              <a:rPr lang="fr-FR" dirty="0"/>
              <a:t>✅ </a:t>
            </a:r>
            <a:r>
              <a:rPr lang="fr-FR" b="1" dirty="0"/>
              <a:t>Objectifs : </a:t>
            </a:r>
          </a:p>
          <a:p>
            <a:endParaRPr lang="fr-FR" b="1" dirty="0"/>
          </a:p>
          <a:p>
            <a:r>
              <a:rPr lang="fr-FR" dirty="0"/>
              <a:t>	Identifier et mettre en avant les avis clients les plus pertinents</a:t>
            </a:r>
          </a:p>
          <a:p>
            <a:r>
              <a:rPr lang="fr-FR" dirty="0"/>
              <a:t>                  Améliorer l’expérience utilisateur et la performance des vendeurs</a:t>
            </a:r>
          </a:p>
          <a:p>
            <a:endParaRPr lang="fr-FR" dirty="0"/>
          </a:p>
          <a:p>
            <a:r>
              <a:rPr lang="fr-FR" dirty="0"/>
              <a:t>⚙️</a:t>
            </a:r>
            <a:r>
              <a:rPr lang="fr-FR" b="1" dirty="0"/>
              <a:t>Objectifs techniques  : </a:t>
            </a:r>
          </a:p>
          <a:p>
            <a:endParaRPr lang="fr-FR" dirty="0"/>
          </a:p>
          <a:p>
            <a:r>
              <a:rPr lang="fr-FR" dirty="0"/>
              <a:t>                   Concevoir une architecture data pour extraire, traiter et analyser les avis clients</a:t>
            </a:r>
          </a:p>
          <a:p>
            <a:endParaRPr lang="fr-FR" dirty="0"/>
          </a:p>
          <a:p>
            <a:r>
              <a:rPr lang="fr-FR" dirty="0"/>
              <a:t>💡</a:t>
            </a:r>
            <a:r>
              <a:rPr lang="fr-FR" b="1" dirty="0"/>
              <a:t>Approche  :</a:t>
            </a:r>
          </a:p>
          <a:p>
            <a:endParaRPr lang="fr-FR" b="1" dirty="0"/>
          </a:p>
          <a:p>
            <a:r>
              <a:rPr lang="fr-FR" dirty="0"/>
              <a:t>	Design </a:t>
            </a:r>
            <a:r>
              <a:rPr lang="fr-FR" dirty="0" err="1"/>
              <a:t>Thinking</a:t>
            </a:r>
            <a:r>
              <a:rPr lang="fr-FR" dirty="0"/>
              <a:t> &amp; Data </a:t>
            </a:r>
            <a:r>
              <a:rPr lang="fr-FR" dirty="0" err="1"/>
              <a:t>Analysis</a:t>
            </a:r>
            <a:endParaRPr lang="fr-FR" dirty="0"/>
          </a:p>
        </p:txBody>
      </p:sp>
    </p:spTree>
    <p:extLst>
      <p:ext uri="{BB962C8B-B14F-4D97-AF65-F5344CB8AC3E}">
        <p14:creationId xmlns:p14="http://schemas.microsoft.com/office/powerpoint/2010/main" val="3476194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8F4FF"/>
        </a:solidFill>
        <a:effectLst/>
      </p:bgPr>
    </p:bg>
    <p:spTree>
      <p:nvGrpSpPr>
        <p:cNvPr id="1" name="Shape 61"/>
        <p:cNvGrpSpPr/>
        <p:nvPr/>
      </p:nvGrpSpPr>
      <p:grpSpPr>
        <a:xfrm>
          <a:off x="0" y="0"/>
          <a:ext cx="0" cy="0"/>
          <a:chOff x="0" y="0"/>
          <a:chExt cx="0" cy="0"/>
        </a:xfrm>
      </p:grpSpPr>
      <p:sp>
        <p:nvSpPr>
          <p:cNvPr id="62" name="Google Shape;62;p14"/>
          <p:cNvSpPr txBox="1">
            <a:spLocks noGrp="1"/>
          </p:cNvSpPr>
          <p:nvPr>
            <p:ph type="ctrTitle" idx="4294967295"/>
          </p:nvPr>
        </p:nvSpPr>
        <p:spPr>
          <a:xfrm>
            <a:off x="564486" y="825519"/>
            <a:ext cx="5301055" cy="48864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1800" b="1" dirty="0">
                <a:solidFill>
                  <a:srgbClr val="0E3449"/>
                </a:solidFill>
                <a:latin typeface="Inter"/>
                <a:ea typeface="Inter"/>
                <a:cs typeface="Inter"/>
                <a:sym typeface="Inter"/>
              </a:rPr>
              <a:t>Problématique &amp; Objectifs du projet</a:t>
            </a:r>
          </a:p>
        </p:txBody>
      </p:sp>
      <p:pic>
        <p:nvPicPr>
          <p:cNvPr id="63" name="Google Shape;63;p14"/>
          <p:cNvPicPr preferRelativeResize="0"/>
          <p:nvPr/>
        </p:nvPicPr>
        <p:blipFill>
          <a:blip r:embed="rId3">
            <a:alphaModFix/>
          </a:blip>
          <a:stretch>
            <a:fillRect/>
          </a:stretch>
        </p:blipFill>
        <p:spPr>
          <a:xfrm>
            <a:off x="448506" y="289900"/>
            <a:ext cx="576900" cy="385904"/>
          </a:xfrm>
          <a:prstGeom prst="rect">
            <a:avLst/>
          </a:prstGeom>
          <a:noFill/>
          <a:ln>
            <a:noFill/>
          </a:ln>
        </p:spPr>
      </p:pic>
      <p:sp>
        <p:nvSpPr>
          <p:cNvPr id="3" name="ZoneTexte 2">
            <a:extLst>
              <a:ext uri="{FF2B5EF4-FFF2-40B4-BE49-F238E27FC236}">
                <a16:creationId xmlns:a16="http://schemas.microsoft.com/office/drawing/2014/main" id="{7421801A-8041-A323-BDAB-EAE3660E6200}"/>
              </a:ext>
            </a:extLst>
          </p:cNvPr>
          <p:cNvSpPr txBox="1"/>
          <p:nvPr/>
        </p:nvSpPr>
        <p:spPr>
          <a:xfrm>
            <a:off x="564487" y="1314170"/>
            <a:ext cx="7910440" cy="3108543"/>
          </a:xfrm>
          <a:prstGeom prst="rect">
            <a:avLst/>
          </a:prstGeom>
          <a:noFill/>
        </p:spPr>
        <p:txBody>
          <a:bodyPr wrap="square" rtlCol="0">
            <a:spAutoFit/>
          </a:bodyPr>
          <a:lstStyle/>
          <a:p>
            <a:r>
              <a:rPr lang="fr-FR" b="1" dirty="0"/>
              <a:t>💬 Problématique :</a:t>
            </a:r>
            <a:r>
              <a:rPr lang="fr-FR" dirty="0"/>
              <a:t>  fiabiliser et valoriser les avis produits Amazon</a:t>
            </a:r>
          </a:p>
          <a:p>
            <a:endParaRPr lang="fr-FR" dirty="0"/>
          </a:p>
          <a:p>
            <a:r>
              <a:rPr lang="fr-FR" dirty="0"/>
              <a:t>✅ </a:t>
            </a:r>
            <a:r>
              <a:rPr lang="fr-FR" b="1" dirty="0"/>
              <a:t>Objectifs : </a:t>
            </a:r>
          </a:p>
          <a:p>
            <a:endParaRPr lang="fr-FR" b="1" dirty="0"/>
          </a:p>
          <a:p>
            <a:r>
              <a:rPr lang="fr-FR" dirty="0"/>
              <a:t>	Identifier et mettre en avant les avis clients les plus pertinents</a:t>
            </a:r>
          </a:p>
          <a:p>
            <a:r>
              <a:rPr lang="fr-FR" dirty="0"/>
              <a:t>                  Améliorer l’expérience utilisateur et la performance des vendeurs</a:t>
            </a:r>
          </a:p>
          <a:p>
            <a:endParaRPr lang="fr-FR" dirty="0"/>
          </a:p>
          <a:p>
            <a:r>
              <a:rPr lang="fr-FR" dirty="0"/>
              <a:t>⚙️</a:t>
            </a:r>
            <a:r>
              <a:rPr lang="fr-FR" b="1" dirty="0"/>
              <a:t>Objectifs techniques  : </a:t>
            </a:r>
          </a:p>
          <a:p>
            <a:endParaRPr lang="fr-FR" dirty="0"/>
          </a:p>
          <a:p>
            <a:r>
              <a:rPr lang="fr-FR" dirty="0"/>
              <a:t>                   Concevoir une architecture data pour extraire, traiter et analyser les avis clients</a:t>
            </a:r>
          </a:p>
          <a:p>
            <a:endParaRPr lang="fr-FR" dirty="0"/>
          </a:p>
          <a:p>
            <a:r>
              <a:rPr lang="fr-FR" dirty="0"/>
              <a:t>💡</a:t>
            </a:r>
            <a:r>
              <a:rPr lang="fr-FR" b="1" dirty="0"/>
              <a:t>Approche  :</a:t>
            </a:r>
          </a:p>
          <a:p>
            <a:endParaRPr lang="fr-FR" b="1" dirty="0"/>
          </a:p>
          <a:p>
            <a:r>
              <a:rPr lang="fr-FR" dirty="0"/>
              <a:t>	Design </a:t>
            </a:r>
            <a:r>
              <a:rPr lang="fr-FR" dirty="0" err="1"/>
              <a:t>Thinking</a:t>
            </a:r>
            <a:r>
              <a:rPr lang="fr-FR" dirty="0"/>
              <a:t> &amp; Data </a:t>
            </a:r>
            <a:r>
              <a:rPr lang="fr-FR" dirty="0" err="1"/>
              <a:t>Analysis</a:t>
            </a:r>
            <a:endParaRPr lang="fr-F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ctrTitle" idx="4294967295"/>
          </p:nvPr>
        </p:nvSpPr>
        <p:spPr>
          <a:xfrm>
            <a:off x="1192664" y="403309"/>
            <a:ext cx="5315100" cy="53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sz="2500" dirty="0">
                <a:solidFill>
                  <a:srgbClr val="0E3449"/>
                </a:solidFill>
                <a:latin typeface="Inter SemiBold"/>
                <a:ea typeface="Inter SemiBold"/>
                <a:cs typeface="Inter SemiBold"/>
                <a:sym typeface="Inter SemiBold"/>
              </a:rPr>
              <a:t>Approche et plan d’action</a:t>
            </a:r>
            <a:endParaRPr sz="2500" dirty="0">
              <a:solidFill>
                <a:srgbClr val="0E3449"/>
              </a:solidFill>
              <a:latin typeface="Inter SemiBold"/>
              <a:ea typeface="Inter SemiBold"/>
              <a:cs typeface="Inter SemiBold"/>
              <a:sym typeface="Inter SemiBold"/>
            </a:endParaRPr>
          </a:p>
        </p:txBody>
      </p:sp>
      <p:pic>
        <p:nvPicPr>
          <p:cNvPr id="75" name="Google Shape;75;p15"/>
          <p:cNvPicPr preferRelativeResize="0"/>
          <p:nvPr/>
        </p:nvPicPr>
        <p:blipFill>
          <a:blip r:embed="rId3">
            <a:alphaModFix/>
          </a:blip>
          <a:stretch>
            <a:fillRect/>
          </a:stretch>
        </p:blipFill>
        <p:spPr>
          <a:xfrm>
            <a:off x="463375" y="482852"/>
            <a:ext cx="576900" cy="385904"/>
          </a:xfrm>
          <a:prstGeom prst="rect">
            <a:avLst/>
          </a:prstGeom>
          <a:noFill/>
          <a:ln>
            <a:noFill/>
          </a:ln>
        </p:spPr>
      </p:pic>
      <p:sp>
        <p:nvSpPr>
          <p:cNvPr id="76" name="Google Shape;76;p15"/>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69;p15">
            <a:extLst>
              <a:ext uri="{FF2B5EF4-FFF2-40B4-BE49-F238E27FC236}">
                <a16:creationId xmlns:a16="http://schemas.microsoft.com/office/drawing/2014/main" id="{7A1BB4A6-C8A7-9F7A-2215-7CB9681F0317}"/>
              </a:ext>
            </a:extLst>
          </p:cNvPr>
          <p:cNvSpPr txBox="1">
            <a:spLocks/>
          </p:cNvSpPr>
          <p:nvPr/>
        </p:nvSpPr>
        <p:spPr>
          <a:xfrm>
            <a:off x="488878" y="1166032"/>
            <a:ext cx="7900949" cy="72457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fr-FR" sz="1200" dirty="0"/>
              <a:t>✅  </a:t>
            </a:r>
            <a:r>
              <a:rPr lang="fr-FR" sz="1200" b="1" dirty="0">
                <a:solidFill>
                  <a:srgbClr val="4B5258"/>
                </a:solidFill>
                <a:latin typeface="Inter Medium"/>
                <a:ea typeface="Inter Medium"/>
                <a:cs typeface="Inter Medium"/>
                <a:sym typeface="Inter Medium"/>
              </a:rPr>
              <a:t>Objectif : </a:t>
            </a:r>
          </a:p>
          <a:p>
            <a:pPr algn="ctr"/>
            <a:r>
              <a:rPr lang="fr-FR" sz="1200" b="1" dirty="0">
                <a:solidFill>
                  <a:srgbClr val="4B5258"/>
                </a:solidFill>
                <a:latin typeface="Inter Medium"/>
                <a:ea typeface="Inter Medium"/>
                <a:cs typeface="Inter Medium"/>
                <a:sym typeface="Inter Medium"/>
              </a:rPr>
              <a:t>  	</a:t>
            </a:r>
          </a:p>
          <a:p>
            <a:pPr algn="ctr"/>
            <a:r>
              <a:rPr lang="fr-FR" sz="1200" dirty="0">
                <a:solidFill>
                  <a:srgbClr val="4B5258"/>
                </a:solidFill>
                <a:latin typeface="Inter Medium"/>
                <a:ea typeface="Inter Medium"/>
                <a:cs typeface="Inter Medium"/>
                <a:sym typeface="Inter Medium"/>
              </a:rPr>
              <a:t>Assurer l’extraction, le traitement et la classification et l’exploitation des avis de manière </a:t>
            </a:r>
          </a:p>
          <a:p>
            <a:pPr algn="ctr"/>
            <a:r>
              <a:rPr lang="fr-FR" sz="1200" dirty="0">
                <a:solidFill>
                  <a:srgbClr val="4B5258"/>
                </a:solidFill>
                <a:latin typeface="Inter Medium"/>
                <a:ea typeface="Inter Medium"/>
                <a:cs typeface="Inter Medium"/>
                <a:sym typeface="Inter Medium"/>
              </a:rPr>
              <a:t>fiable et scalable </a:t>
            </a:r>
          </a:p>
        </p:txBody>
      </p:sp>
      <p:sp>
        <p:nvSpPr>
          <p:cNvPr id="4" name="Google Shape;69;p15">
            <a:extLst>
              <a:ext uri="{FF2B5EF4-FFF2-40B4-BE49-F238E27FC236}">
                <a16:creationId xmlns:a16="http://schemas.microsoft.com/office/drawing/2014/main" id="{8E6F0841-F6A9-B04B-89B7-47C6D13AA281}"/>
              </a:ext>
            </a:extLst>
          </p:cNvPr>
          <p:cNvSpPr txBox="1">
            <a:spLocks/>
          </p:cNvSpPr>
          <p:nvPr/>
        </p:nvSpPr>
        <p:spPr>
          <a:xfrm>
            <a:off x="463375" y="1890610"/>
            <a:ext cx="7900949" cy="13960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fr-FR" sz="1200" dirty="0"/>
              <a:t>✅  </a:t>
            </a:r>
            <a:r>
              <a:rPr lang="fr-FR" sz="1200" b="1" dirty="0">
                <a:solidFill>
                  <a:srgbClr val="4B5258"/>
                </a:solidFill>
                <a:latin typeface="Inter Medium"/>
                <a:ea typeface="Inter Medium"/>
                <a:cs typeface="Inter Medium"/>
                <a:sym typeface="Inter Medium"/>
              </a:rPr>
              <a:t>Approche  :</a:t>
            </a:r>
          </a:p>
          <a:p>
            <a:endParaRPr lang="fr-FR" sz="1200" dirty="0">
              <a:solidFill>
                <a:srgbClr val="4B5258"/>
              </a:solidFill>
              <a:latin typeface="Inter Medium"/>
              <a:ea typeface="Inter Medium"/>
              <a:sym typeface="Inter Medium"/>
            </a:endParaRPr>
          </a:p>
          <a:p>
            <a:pPr lvl="2" algn="ctr"/>
            <a:r>
              <a:rPr lang="fr-FR" sz="1200" dirty="0"/>
              <a:t>Développement d’un prototype pour valider la </a:t>
            </a:r>
            <a:r>
              <a:rPr lang="fr-FR" sz="1200" dirty="0">
                <a:solidFill>
                  <a:srgbClr val="4B5258"/>
                </a:solidFill>
                <a:latin typeface="Inter Medium"/>
                <a:ea typeface="Inter Medium"/>
              </a:rPr>
              <a:t>faisabilité</a:t>
            </a:r>
            <a:r>
              <a:rPr lang="fr-FR" sz="1200" b="1" dirty="0"/>
              <a:t> </a:t>
            </a:r>
            <a:r>
              <a:rPr lang="fr-FR" sz="1200" dirty="0"/>
              <a:t>technique et analytique</a:t>
            </a:r>
          </a:p>
          <a:p>
            <a:pPr lvl="2" algn="ctr"/>
            <a:r>
              <a:rPr lang="fr-FR" sz="1200" dirty="0"/>
              <a:t>Exploration des données pour comprendre les biais et ajuster les pondérations.</a:t>
            </a:r>
            <a:r>
              <a:rPr lang="fr-FR" sz="1200" dirty="0">
                <a:solidFill>
                  <a:srgbClr val="4B5258"/>
                </a:solidFill>
                <a:latin typeface="Inter Medium"/>
                <a:ea typeface="Inter Medium"/>
                <a:cs typeface="Inter Medium"/>
                <a:sym typeface="Inter Medium"/>
              </a:rPr>
              <a:t>   </a:t>
            </a:r>
          </a:p>
          <a:p>
            <a:r>
              <a:rPr lang="fr-FR" sz="1200" dirty="0">
                <a:solidFill>
                  <a:srgbClr val="4B5258"/>
                </a:solidFill>
                <a:latin typeface="Inter Medium"/>
                <a:ea typeface="Inter Medium"/>
                <a:cs typeface="Inter Medium"/>
                <a:sym typeface="Inter Medium"/>
              </a:rPr>
              <a:t>	      </a:t>
            </a:r>
            <a:r>
              <a:rPr lang="fr-FR" sz="1200" dirty="0"/>
              <a:t>Résultats utilisés pour préparer la trajectoire vers un pipeline ETL complet</a:t>
            </a:r>
            <a:endParaRPr lang="fr-FR" sz="1200" dirty="0">
              <a:solidFill>
                <a:srgbClr val="4B5258"/>
              </a:solidFill>
              <a:latin typeface="Inter Medium"/>
              <a:ea typeface="Inter Medium"/>
              <a:cs typeface="Inter Medium"/>
              <a:sym typeface="Inter Medium"/>
            </a:endParaRPr>
          </a:p>
        </p:txBody>
      </p:sp>
      <p:sp>
        <p:nvSpPr>
          <p:cNvPr id="8" name="Google Shape;69;p15">
            <a:extLst>
              <a:ext uri="{FF2B5EF4-FFF2-40B4-BE49-F238E27FC236}">
                <a16:creationId xmlns:a16="http://schemas.microsoft.com/office/drawing/2014/main" id="{29EFD4A2-7D78-BEF3-B4A2-22D60601CA00}"/>
              </a:ext>
            </a:extLst>
          </p:cNvPr>
          <p:cNvSpPr txBox="1">
            <a:spLocks/>
          </p:cNvSpPr>
          <p:nvPr/>
        </p:nvSpPr>
        <p:spPr>
          <a:xfrm>
            <a:off x="463375" y="3264620"/>
            <a:ext cx="7900949" cy="13960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fr-FR" sz="1200" dirty="0"/>
              <a:t>✅  </a:t>
            </a:r>
            <a:r>
              <a:rPr lang="fr-FR" sz="1200" b="1" dirty="0">
                <a:solidFill>
                  <a:srgbClr val="4B5258"/>
                </a:solidFill>
                <a:latin typeface="Inter Medium"/>
                <a:ea typeface="Inter Medium"/>
                <a:cs typeface="Inter Medium"/>
                <a:sym typeface="Inter Medium"/>
              </a:rPr>
              <a:t>Bénéfice Attendu  :</a:t>
            </a:r>
          </a:p>
          <a:p>
            <a:pPr lvl="2" algn="ctr"/>
            <a:r>
              <a:rPr lang="fr-FR" sz="1200" dirty="0">
                <a:solidFill>
                  <a:srgbClr val="4B5258"/>
                </a:solidFill>
                <a:latin typeface="Inter Medium"/>
                <a:ea typeface="Inter Medium"/>
                <a:cs typeface="Inter Medium"/>
                <a:sym typeface="Inter Medium"/>
              </a:rPr>
              <a:t>Validation du concept </a:t>
            </a:r>
          </a:p>
          <a:p>
            <a:pPr lvl="2" algn="ctr"/>
            <a:r>
              <a:rPr lang="fr-FR" sz="1200" dirty="0">
                <a:solidFill>
                  <a:srgbClr val="4B5258"/>
                </a:solidFill>
                <a:latin typeface="Inter Medium"/>
                <a:ea typeface="Inter Medium"/>
                <a:cs typeface="Inter Medium"/>
                <a:sym typeface="Inter Medium"/>
              </a:rPr>
              <a:t>Fiabilité initiale du scoring : tester les pondérations.</a:t>
            </a:r>
          </a:p>
          <a:p>
            <a:pPr lvl="2" algn="ctr"/>
            <a:r>
              <a:rPr lang="fr-FR" sz="1200" dirty="0">
                <a:solidFill>
                  <a:srgbClr val="4B5258"/>
                </a:solidFill>
                <a:latin typeface="Inter Medium"/>
                <a:ea typeface="Inter Medium"/>
                <a:cs typeface="Inter Medium"/>
                <a:sym typeface="Inter Medium"/>
              </a:rPr>
              <a:t>Meilleure compréhension des données </a:t>
            </a:r>
          </a:p>
          <a:p>
            <a:pPr lvl="2" algn="ctr"/>
            <a:r>
              <a:rPr lang="fr-FR" sz="1200" dirty="0">
                <a:solidFill>
                  <a:srgbClr val="4B5258"/>
                </a:solidFill>
                <a:latin typeface="Inter Medium"/>
                <a:ea typeface="Inter Medium"/>
                <a:cs typeface="Inter Medium"/>
                <a:sym typeface="Inter Medium"/>
              </a:rPr>
              <a:t>Préparation pour exploitation future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6"/>
          <p:cNvSpPr/>
          <p:nvPr/>
        </p:nvSpPr>
        <p:spPr>
          <a:xfrm>
            <a:off x="5500" y="-17775"/>
            <a:ext cx="3335400" cy="5161200"/>
          </a:xfrm>
          <a:prstGeom prst="rect">
            <a:avLst/>
          </a:prstGeom>
          <a:solidFill>
            <a:srgbClr val="C3FF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p:cNvSpPr txBox="1">
            <a:spLocks noGrp="1"/>
          </p:cNvSpPr>
          <p:nvPr>
            <p:ph type="title"/>
          </p:nvPr>
        </p:nvSpPr>
        <p:spPr>
          <a:xfrm>
            <a:off x="390600" y="1138675"/>
            <a:ext cx="2513100" cy="345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fr" sz="2400" dirty="0">
                <a:solidFill>
                  <a:srgbClr val="015955"/>
                </a:solidFill>
                <a:latin typeface="Inter"/>
                <a:ea typeface="Inter"/>
                <a:cs typeface="Inter"/>
                <a:sym typeface="Inter"/>
              </a:rPr>
              <a:t>Sélection des données pertinentes </a:t>
            </a:r>
            <a:endParaRPr sz="2400" dirty="0">
              <a:solidFill>
                <a:srgbClr val="015955"/>
              </a:solidFill>
              <a:latin typeface="Inter"/>
              <a:ea typeface="Inter"/>
              <a:cs typeface="Inter"/>
              <a:sym typeface="Inter"/>
            </a:endParaRPr>
          </a:p>
        </p:txBody>
      </p:sp>
      <p:pic>
        <p:nvPicPr>
          <p:cNvPr id="83" name="Google Shape;83;p16"/>
          <p:cNvPicPr preferRelativeResize="0"/>
          <p:nvPr/>
        </p:nvPicPr>
        <p:blipFill rotWithShape="1">
          <a:blip r:embed="rId3">
            <a:alphaModFix/>
          </a:blip>
          <a:srcRect/>
          <a:stretch/>
        </p:blipFill>
        <p:spPr>
          <a:xfrm>
            <a:off x="463375" y="482852"/>
            <a:ext cx="576900" cy="385904"/>
          </a:xfrm>
          <a:prstGeom prst="rect">
            <a:avLst/>
          </a:prstGeom>
          <a:noFill/>
          <a:ln>
            <a:noFill/>
          </a:ln>
        </p:spPr>
      </p:pic>
      <p:graphicFrame>
        <p:nvGraphicFramePr>
          <p:cNvPr id="5" name="Tableau 4">
            <a:extLst>
              <a:ext uri="{FF2B5EF4-FFF2-40B4-BE49-F238E27FC236}">
                <a16:creationId xmlns:a16="http://schemas.microsoft.com/office/drawing/2014/main" id="{949427AC-486A-D978-A180-E360C40D1B0F}"/>
              </a:ext>
            </a:extLst>
          </p:cNvPr>
          <p:cNvGraphicFramePr>
            <a:graphicFrameLocks noGrp="1"/>
          </p:cNvGraphicFramePr>
          <p:nvPr>
            <p:extLst>
              <p:ext uri="{D42A27DB-BD31-4B8C-83A1-F6EECF244321}">
                <p14:modId xmlns:p14="http://schemas.microsoft.com/office/powerpoint/2010/main" val="3218362778"/>
              </p:ext>
            </p:extLst>
          </p:nvPr>
        </p:nvGraphicFramePr>
        <p:xfrm>
          <a:off x="3361575" y="826282"/>
          <a:ext cx="5443864" cy="3755068"/>
        </p:xfrm>
        <a:graphic>
          <a:graphicData uri="http://schemas.openxmlformats.org/drawingml/2006/table">
            <a:tbl>
              <a:tblPr firstRow="1" bandRow="1">
                <a:tableStyleId>{5C22544A-7EE6-4342-B048-85BDC9FD1C3A}</a:tableStyleId>
              </a:tblPr>
              <a:tblGrid>
                <a:gridCol w="1360966">
                  <a:extLst>
                    <a:ext uri="{9D8B030D-6E8A-4147-A177-3AD203B41FA5}">
                      <a16:colId xmlns:a16="http://schemas.microsoft.com/office/drawing/2014/main" val="3500259346"/>
                    </a:ext>
                  </a:extLst>
                </a:gridCol>
                <a:gridCol w="1360966">
                  <a:extLst>
                    <a:ext uri="{9D8B030D-6E8A-4147-A177-3AD203B41FA5}">
                      <a16:colId xmlns:a16="http://schemas.microsoft.com/office/drawing/2014/main" val="369102546"/>
                    </a:ext>
                  </a:extLst>
                </a:gridCol>
                <a:gridCol w="1360966">
                  <a:extLst>
                    <a:ext uri="{9D8B030D-6E8A-4147-A177-3AD203B41FA5}">
                      <a16:colId xmlns:a16="http://schemas.microsoft.com/office/drawing/2014/main" val="2482557908"/>
                    </a:ext>
                  </a:extLst>
                </a:gridCol>
                <a:gridCol w="1360966">
                  <a:extLst>
                    <a:ext uri="{9D8B030D-6E8A-4147-A177-3AD203B41FA5}">
                      <a16:colId xmlns:a16="http://schemas.microsoft.com/office/drawing/2014/main" val="3414678319"/>
                    </a:ext>
                  </a:extLst>
                </a:gridCol>
              </a:tblGrid>
              <a:tr h="366348">
                <a:tc>
                  <a:txBody>
                    <a:bodyPr/>
                    <a:lstStyle/>
                    <a:p>
                      <a:pPr algn="ctr"/>
                      <a:endParaRPr lang="fr-FR" sz="900" dirty="0"/>
                    </a:p>
                    <a:p>
                      <a:pPr algn="ctr"/>
                      <a:r>
                        <a:rPr lang="fr-FR" sz="900" dirty="0"/>
                        <a:t>Tables</a:t>
                      </a:r>
                    </a:p>
                  </a:txBody>
                  <a:tcPr/>
                </a:tc>
                <a:tc>
                  <a:txBody>
                    <a:bodyPr/>
                    <a:lstStyle/>
                    <a:p>
                      <a:pPr algn="ctr"/>
                      <a:endParaRPr lang="fr-FR" sz="900" dirty="0"/>
                    </a:p>
                    <a:p>
                      <a:pPr algn="ctr"/>
                      <a:r>
                        <a:rPr lang="fr-FR" sz="900" dirty="0"/>
                        <a:t>Volumétrie</a:t>
                      </a:r>
                    </a:p>
                  </a:txBody>
                  <a:tcPr/>
                </a:tc>
                <a:tc>
                  <a:txBody>
                    <a:bodyPr/>
                    <a:lstStyle/>
                    <a:p>
                      <a:pPr algn="ctr"/>
                      <a:endParaRPr lang="fr-FR" sz="900" dirty="0"/>
                    </a:p>
                    <a:p>
                      <a:pPr algn="ctr"/>
                      <a:r>
                        <a:rPr lang="fr-FR" sz="900" dirty="0"/>
                        <a:t>Rôle</a:t>
                      </a:r>
                    </a:p>
                  </a:txBody>
                  <a:tcPr/>
                </a:tc>
                <a:tc>
                  <a:txBody>
                    <a:bodyPr/>
                    <a:lstStyle/>
                    <a:p>
                      <a:pPr algn="ctr"/>
                      <a:endParaRPr lang="fr-FR" sz="900" dirty="0"/>
                    </a:p>
                    <a:p>
                      <a:pPr algn="ctr"/>
                      <a:r>
                        <a:rPr lang="fr-FR" sz="900" dirty="0"/>
                        <a:t>Données extraites</a:t>
                      </a:r>
                    </a:p>
                  </a:txBody>
                  <a:tcPr/>
                </a:tc>
                <a:extLst>
                  <a:ext uri="{0D108BD9-81ED-4DB2-BD59-A6C34878D82A}">
                    <a16:rowId xmlns:a16="http://schemas.microsoft.com/office/drawing/2014/main" val="1854767993"/>
                  </a:ext>
                </a:extLst>
              </a:tr>
              <a:tr h="366348">
                <a:tc>
                  <a:txBody>
                    <a:bodyPr/>
                    <a:lstStyle/>
                    <a:p>
                      <a:pPr algn="ctr"/>
                      <a:endParaRPr lang="fr-FR" sz="900" dirty="0"/>
                    </a:p>
                    <a:p>
                      <a:pPr algn="ctr"/>
                      <a:r>
                        <a:rPr lang="fr-FR" sz="900" dirty="0"/>
                        <a:t>REVIEW</a:t>
                      </a:r>
                    </a:p>
                  </a:txBody>
                  <a:tcPr/>
                </a:tc>
                <a:tc>
                  <a:txBody>
                    <a:bodyPr/>
                    <a:lstStyle/>
                    <a:p>
                      <a:pPr algn="ctr"/>
                      <a:endParaRPr lang="fr-FR" sz="900" dirty="0"/>
                    </a:p>
                    <a:p>
                      <a:pPr algn="ctr"/>
                      <a:r>
                        <a:rPr lang="fr-FR" sz="900" dirty="0"/>
                        <a:t>111 322 </a:t>
                      </a:r>
                    </a:p>
                  </a:txBody>
                  <a:tcPr/>
                </a:tc>
                <a:tc>
                  <a:txBody>
                    <a:bodyPr/>
                    <a:lstStyle/>
                    <a:p>
                      <a:pPr algn="ctr"/>
                      <a:endParaRPr lang="fr-FR" sz="900" dirty="0"/>
                    </a:p>
                    <a:p>
                      <a:pPr algn="ctr"/>
                      <a:r>
                        <a:rPr lang="fr-FR" sz="900" dirty="0"/>
                        <a:t>Commentaires </a:t>
                      </a:r>
                    </a:p>
                  </a:txBody>
                  <a:tcPr/>
                </a:tc>
                <a:tc>
                  <a:txBody>
                    <a:bodyPr/>
                    <a:lstStyle/>
                    <a:p>
                      <a:pPr algn="ctr"/>
                      <a:endParaRPr lang="fr-FR" sz="900" dirty="0"/>
                    </a:p>
                    <a:p>
                      <a:pPr algn="ctr"/>
                      <a:r>
                        <a:rPr lang="fr-FR" sz="900" dirty="0"/>
                        <a:t>Textes, Tires, Notes</a:t>
                      </a:r>
                    </a:p>
                  </a:txBody>
                  <a:tcPr/>
                </a:tc>
                <a:extLst>
                  <a:ext uri="{0D108BD9-81ED-4DB2-BD59-A6C34878D82A}">
                    <a16:rowId xmlns:a16="http://schemas.microsoft.com/office/drawing/2014/main" val="4013599739"/>
                  </a:ext>
                </a:extLst>
              </a:tr>
              <a:tr h="503729">
                <a:tc>
                  <a:txBody>
                    <a:bodyPr/>
                    <a:lstStyle/>
                    <a:p>
                      <a:pPr algn="ctr"/>
                      <a:endParaRPr lang="fr-FR" sz="900" dirty="0"/>
                    </a:p>
                    <a:p>
                      <a:pPr algn="ctr"/>
                      <a:r>
                        <a:rPr lang="fr-FR" sz="900" dirty="0"/>
                        <a:t>PRODUCT_REVIEW</a:t>
                      </a:r>
                    </a:p>
                  </a:txBody>
                  <a:tcPr/>
                </a:tc>
                <a:tc>
                  <a:txBody>
                    <a:bodyPr/>
                    <a:lstStyle/>
                    <a:p>
                      <a:pPr algn="ctr"/>
                      <a:endParaRPr lang="fr-FR" sz="900" dirty="0"/>
                    </a:p>
                    <a:p>
                      <a:pPr algn="ctr"/>
                      <a:r>
                        <a:rPr lang="fr-FR" sz="900" dirty="0"/>
                        <a:t>111 322</a:t>
                      </a:r>
                    </a:p>
                  </a:txBody>
                  <a:tcPr/>
                </a:tc>
                <a:tc>
                  <a:txBody>
                    <a:bodyPr/>
                    <a:lstStyle/>
                    <a:p>
                      <a:pPr algn="ctr"/>
                      <a:endParaRPr lang="fr-FR" sz="900" dirty="0"/>
                    </a:p>
                    <a:p>
                      <a:pPr algn="ctr"/>
                      <a:r>
                        <a:rPr lang="fr-FR" sz="900" dirty="0"/>
                        <a:t>Table Pivot</a:t>
                      </a:r>
                    </a:p>
                  </a:txBody>
                  <a:tcPr/>
                </a:tc>
                <a:tc>
                  <a:txBody>
                    <a:bodyPr/>
                    <a:lstStyle/>
                    <a:p>
                      <a:pPr algn="ctr"/>
                      <a:endParaRPr lang="fr-FR" sz="900" dirty="0"/>
                    </a:p>
                    <a:p>
                      <a:pPr algn="ctr"/>
                      <a:r>
                        <a:rPr lang="fr-FR" sz="900" dirty="0"/>
                        <a:t>Association avis-produit</a:t>
                      </a:r>
                    </a:p>
                  </a:txBody>
                  <a:tcPr/>
                </a:tc>
                <a:extLst>
                  <a:ext uri="{0D108BD9-81ED-4DB2-BD59-A6C34878D82A}">
                    <a16:rowId xmlns:a16="http://schemas.microsoft.com/office/drawing/2014/main" val="1803844496"/>
                  </a:ext>
                </a:extLst>
              </a:tr>
              <a:tr h="641109">
                <a:tc>
                  <a:txBody>
                    <a:bodyPr/>
                    <a:lstStyle/>
                    <a:p>
                      <a:pPr algn="ctr"/>
                      <a:endParaRPr lang="fr-FR" sz="900" dirty="0"/>
                    </a:p>
                    <a:p>
                      <a:pPr algn="ctr"/>
                      <a:r>
                        <a:rPr lang="fr-FR" sz="900" dirty="0"/>
                        <a:t>Product</a:t>
                      </a:r>
                    </a:p>
                  </a:txBody>
                  <a:tcPr/>
                </a:tc>
                <a:tc>
                  <a:txBody>
                    <a:bodyPr/>
                    <a:lstStyle/>
                    <a:p>
                      <a:pPr algn="ctr"/>
                      <a:endParaRPr lang="fr-FR" sz="900" dirty="0"/>
                    </a:p>
                    <a:p>
                      <a:pPr algn="ctr"/>
                      <a:r>
                        <a:rPr lang="fr-FR" sz="900" dirty="0"/>
                        <a:t>42 858</a:t>
                      </a:r>
                    </a:p>
                  </a:txBody>
                  <a:tcPr/>
                </a:tc>
                <a:tc>
                  <a:txBody>
                    <a:bodyPr/>
                    <a:lstStyle/>
                    <a:p>
                      <a:pPr algn="ctr"/>
                      <a:endParaRPr lang="fr-FR" sz="900" dirty="0"/>
                    </a:p>
                    <a:p>
                      <a:pPr algn="ctr"/>
                      <a:r>
                        <a:rPr lang="fr-FR" sz="900" dirty="0"/>
                        <a:t>Contexte Produit</a:t>
                      </a:r>
                    </a:p>
                  </a:txBody>
                  <a:tcPr/>
                </a:tc>
                <a:tc>
                  <a:txBody>
                    <a:bodyPr/>
                    <a:lstStyle/>
                    <a:p>
                      <a:pPr algn="ctr"/>
                      <a:endParaRPr lang="fr-FR" sz="900" dirty="0"/>
                    </a:p>
                    <a:p>
                      <a:pPr algn="ctr"/>
                      <a:r>
                        <a:rPr lang="fr-FR" sz="900" dirty="0"/>
                        <a:t>Nom du produit, Description du produit, Prix du produit</a:t>
                      </a:r>
                    </a:p>
                  </a:txBody>
                  <a:tcPr/>
                </a:tc>
                <a:extLst>
                  <a:ext uri="{0D108BD9-81ED-4DB2-BD59-A6C34878D82A}">
                    <a16:rowId xmlns:a16="http://schemas.microsoft.com/office/drawing/2014/main" val="4274700216"/>
                  </a:ext>
                </a:extLst>
              </a:tr>
              <a:tr h="503729">
                <a:tc>
                  <a:txBody>
                    <a:bodyPr/>
                    <a:lstStyle/>
                    <a:p>
                      <a:pPr algn="ctr"/>
                      <a:endParaRPr lang="fr-FR" sz="900" dirty="0"/>
                    </a:p>
                    <a:p>
                      <a:pPr algn="ctr"/>
                      <a:r>
                        <a:rPr lang="fr-FR" sz="900" dirty="0"/>
                        <a:t>CATEGORY</a:t>
                      </a:r>
                    </a:p>
                  </a:txBody>
                  <a:tcPr/>
                </a:tc>
                <a:tc>
                  <a:txBody>
                    <a:bodyPr/>
                    <a:lstStyle/>
                    <a:p>
                      <a:pPr algn="ctr"/>
                      <a:endParaRPr lang="fr-FR" sz="900" dirty="0"/>
                    </a:p>
                    <a:p>
                      <a:pPr algn="ctr"/>
                      <a:r>
                        <a:rPr lang="fr-FR" sz="900" dirty="0"/>
                        <a:t>2 </a:t>
                      </a:r>
                    </a:p>
                  </a:txBody>
                  <a:tcPr/>
                </a:tc>
                <a:tc>
                  <a:txBody>
                    <a:bodyPr/>
                    <a:lstStyle/>
                    <a:p>
                      <a:pPr algn="ctr"/>
                      <a:endParaRPr lang="fr-FR" sz="900" dirty="0"/>
                    </a:p>
                    <a:p>
                      <a:pPr algn="ctr"/>
                      <a:r>
                        <a:rPr lang="fr-FR" sz="900" dirty="0"/>
                        <a:t>CATEGORISATION</a:t>
                      </a:r>
                    </a:p>
                  </a:txBody>
                  <a:tcPr/>
                </a:tc>
                <a:tc>
                  <a:txBody>
                    <a:bodyPr/>
                    <a:lstStyle/>
                    <a:p>
                      <a:pPr algn="ctr"/>
                      <a:endParaRPr lang="fr-FR" sz="900" dirty="0"/>
                    </a:p>
                    <a:p>
                      <a:pPr algn="ctr"/>
                      <a:r>
                        <a:rPr lang="fr-FR" sz="900" dirty="0"/>
                        <a:t>Catégorie produit </a:t>
                      </a:r>
                    </a:p>
                    <a:p>
                      <a:pPr algn="ctr"/>
                      <a:endParaRPr lang="fr-FR" sz="900" dirty="0"/>
                    </a:p>
                  </a:txBody>
                  <a:tcPr/>
                </a:tc>
                <a:extLst>
                  <a:ext uri="{0D108BD9-81ED-4DB2-BD59-A6C34878D82A}">
                    <a16:rowId xmlns:a16="http://schemas.microsoft.com/office/drawing/2014/main" val="605341118"/>
                  </a:ext>
                </a:extLst>
              </a:tr>
              <a:tr h="641109">
                <a:tc>
                  <a:txBody>
                    <a:bodyPr/>
                    <a:lstStyle/>
                    <a:p>
                      <a:pPr algn="ctr"/>
                      <a:endParaRPr lang="fr-FR" sz="900" dirty="0"/>
                    </a:p>
                    <a:p>
                      <a:pPr algn="ctr"/>
                      <a:r>
                        <a:rPr lang="fr-FR" sz="900" dirty="0"/>
                        <a:t>REVIEW_IMAGES</a:t>
                      </a:r>
                    </a:p>
                  </a:txBody>
                  <a:tcPr/>
                </a:tc>
                <a:tc>
                  <a:txBody>
                    <a:bodyPr/>
                    <a:lstStyle/>
                    <a:p>
                      <a:pPr algn="ctr"/>
                      <a:r>
                        <a:rPr lang="fr-FR" sz="900" dirty="0"/>
                        <a:t>119 382 </a:t>
                      </a:r>
                    </a:p>
                  </a:txBody>
                  <a:tcPr/>
                </a:tc>
                <a:tc>
                  <a:txBody>
                    <a:bodyPr/>
                    <a:lstStyle/>
                    <a:p>
                      <a:pPr algn="ctr"/>
                      <a:endParaRPr lang="fr-FR" sz="900" dirty="0"/>
                    </a:p>
                    <a:p>
                      <a:pPr algn="ctr"/>
                      <a:r>
                        <a:rPr lang="fr-FR" sz="900" dirty="0"/>
                        <a:t>Enrichissement </a:t>
                      </a:r>
                    </a:p>
                  </a:txBody>
                  <a:tcPr/>
                </a:tc>
                <a:tc>
                  <a:txBody>
                    <a:bodyPr/>
                    <a:lstStyle/>
                    <a:p>
                      <a:pPr algn="ctr"/>
                      <a:endParaRPr lang="fr-FR" sz="900" dirty="0"/>
                    </a:p>
                    <a:p>
                      <a:pPr algn="ctr"/>
                      <a:r>
                        <a:rPr lang="fr-FR" sz="900" dirty="0"/>
                        <a:t>Images des avis </a:t>
                      </a:r>
                    </a:p>
                    <a:p>
                      <a:pPr algn="ctr"/>
                      <a:endParaRPr lang="fr-FR" sz="900" dirty="0"/>
                    </a:p>
                    <a:p>
                      <a:pPr algn="ctr"/>
                      <a:endParaRPr lang="fr-FR" sz="900" dirty="0"/>
                    </a:p>
                  </a:txBody>
                  <a:tcPr/>
                </a:tc>
                <a:extLst>
                  <a:ext uri="{0D108BD9-81ED-4DB2-BD59-A6C34878D82A}">
                    <a16:rowId xmlns:a16="http://schemas.microsoft.com/office/drawing/2014/main" val="2271437206"/>
                  </a:ext>
                </a:extLst>
              </a:tr>
              <a:tr h="366348">
                <a:tc>
                  <a:txBody>
                    <a:bodyPr/>
                    <a:lstStyle/>
                    <a:p>
                      <a:pPr algn="ctr"/>
                      <a:endParaRPr lang="fr-FR" sz="900" dirty="0"/>
                    </a:p>
                    <a:p>
                      <a:pPr algn="ctr"/>
                      <a:r>
                        <a:rPr lang="fr-FR" sz="900" dirty="0"/>
                        <a:t>ORDER</a:t>
                      </a:r>
                    </a:p>
                  </a:txBody>
                  <a:tcPr/>
                </a:tc>
                <a:tc>
                  <a:txBody>
                    <a:bodyPr/>
                    <a:lstStyle/>
                    <a:p>
                      <a:pPr algn="ctr"/>
                      <a:endParaRPr lang="fr-FR" sz="900" dirty="0"/>
                    </a:p>
                    <a:p>
                      <a:pPr algn="ctr"/>
                      <a:r>
                        <a:rPr lang="fr-FR" sz="900" dirty="0"/>
                        <a:t>222 649 </a:t>
                      </a:r>
                    </a:p>
                  </a:txBody>
                  <a:tcPr/>
                </a:tc>
                <a:tc>
                  <a:txBody>
                    <a:bodyPr/>
                    <a:lstStyle/>
                    <a:p>
                      <a:pPr algn="ctr"/>
                      <a:endParaRPr lang="fr-FR" sz="900" dirty="0"/>
                    </a:p>
                    <a:p>
                      <a:pPr algn="ctr"/>
                      <a:r>
                        <a:rPr lang="fr-FR" sz="900" dirty="0"/>
                        <a:t>Validation</a:t>
                      </a:r>
                    </a:p>
                  </a:txBody>
                  <a:tcPr/>
                </a:tc>
                <a:tc>
                  <a:txBody>
                    <a:bodyPr/>
                    <a:lstStyle/>
                    <a:p>
                      <a:pPr algn="ctr"/>
                      <a:endParaRPr lang="fr-FR" sz="900" dirty="0"/>
                    </a:p>
                    <a:p>
                      <a:pPr algn="ctr"/>
                      <a:r>
                        <a:rPr lang="fr-FR" sz="900" dirty="0"/>
                        <a:t>Commandes</a:t>
                      </a:r>
                    </a:p>
                  </a:txBody>
                  <a:tcPr/>
                </a:tc>
                <a:extLst>
                  <a:ext uri="{0D108BD9-81ED-4DB2-BD59-A6C34878D82A}">
                    <a16:rowId xmlns:a16="http://schemas.microsoft.com/office/drawing/2014/main" val="1574441061"/>
                  </a:ext>
                </a:extLst>
              </a:tr>
              <a:tr h="366348">
                <a:tc>
                  <a:txBody>
                    <a:bodyPr/>
                    <a:lstStyle/>
                    <a:p>
                      <a:pPr algn="ctr"/>
                      <a:endParaRPr lang="fr-FR" sz="900" dirty="0"/>
                    </a:p>
                    <a:p>
                      <a:pPr algn="ctr"/>
                      <a:r>
                        <a:rPr lang="fr-FR" sz="900" dirty="0"/>
                        <a:t>BUYER</a:t>
                      </a:r>
                    </a:p>
                  </a:txBody>
                  <a:tcPr/>
                </a:tc>
                <a:tc>
                  <a:txBody>
                    <a:bodyPr/>
                    <a:lstStyle/>
                    <a:p>
                      <a:pPr algn="ctr"/>
                      <a:endParaRPr lang="fr-FR" sz="900" dirty="0"/>
                    </a:p>
                    <a:p>
                      <a:pPr algn="ctr"/>
                      <a:r>
                        <a:rPr lang="fr-FR" sz="900" dirty="0"/>
                        <a:t>1000 </a:t>
                      </a:r>
                    </a:p>
                  </a:txBody>
                  <a:tcPr/>
                </a:tc>
                <a:tc>
                  <a:txBody>
                    <a:bodyPr/>
                    <a:lstStyle/>
                    <a:p>
                      <a:pPr algn="ctr"/>
                      <a:endParaRPr lang="fr-FR" sz="900" dirty="0"/>
                    </a:p>
                    <a:p>
                      <a:pPr algn="ctr"/>
                      <a:r>
                        <a:rPr lang="fr-FR" sz="900" dirty="0"/>
                        <a:t>Auteur</a:t>
                      </a:r>
                    </a:p>
                  </a:txBody>
                  <a:tcPr/>
                </a:tc>
                <a:tc>
                  <a:txBody>
                    <a:bodyPr/>
                    <a:lstStyle/>
                    <a:p>
                      <a:pPr algn="ctr"/>
                      <a:endParaRPr lang="fr-FR" sz="900" dirty="0"/>
                    </a:p>
                    <a:p>
                      <a:pPr algn="ctr"/>
                      <a:r>
                        <a:rPr lang="fr-FR" sz="900" dirty="0"/>
                        <a:t>Identifiant Acheteur</a:t>
                      </a:r>
                    </a:p>
                  </a:txBody>
                  <a:tcPr/>
                </a:tc>
                <a:extLst>
                  <a:ext uri="{0D108BD9-81ED-4DB2-BD59-A6C34878D82A}">
                    <a16:rowId xmlns:a16="http://schemas.microsoft.com/office/drawing/2014/main" val="2334993246"/>
                  </a:ext>
                </a:extLst>
              </a:tr>
            </a:tbl>
          </a:graphicData>
        </a:graphic>
      </p:graphicFrame>
      <p:sp>
        <p:nvSpPr>
          <p:cNvPr id="6" name="Google Shape;54;p13">
            <a:extLst>
              <a:ext uri="{FF2B5EF4-FFF2-40B4-BE49-F238E27FC236}">
                <a16:creationId xmlns:a16="http://schemas.microsoft.com/office/drawing/2014/main" id="{2B74885E-5088-11C7-8FA9-E6AA8F080F2F}"/>
              </a:ext>
            </a:extLst>
          </p:cNvPr>
          <p:cNvSpPr txBox="1">
            <a:spLocks/>
          </p:cNvSpPr>
          <p:nvPr/>
        </p:nvSpPr>
        <p:spPr>
          <a:xfrm>
            <a:off x="280429" y="2683727"/>
            <a:ext cx="2513100" cy="180649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fr-FR" sz="1200" b="1" dirty="0">
                <a:solidFill>
                  <a:srgbClr val="0E3449"/>
                </a:solidFill>
                <a:latin typeface="Inter SemiBold"/>
                <a:ea typeface="Inter SemiBold"/>
                <a:cs typeface="Inter SemiBold"/>
                <a:sym typeface="Inter SemiBold"/>
              </a:rPr>
              <a:t>Source de données principale :</a:t>
            </a:r>
          </a:p>
          <a:p>
            <a:r>
              <a:rPr lang="fr-FR" sz="1200" dirty="0">
                <a:solidFill>
                  <a:srgbClr val="0E3449"/>
                </a:solidFill>
                <a:latin typeface="Inter SemiBold"/>
                <a:ea typeface="Inter SemiBold"/>
                <a:cs typeface="Inter SemiBold"/>
                <a:sym typeface="Inter SemiBold"/>
              </a:rPr>
              <a:t>Base  PostgreSQL          contenant les avis produits</a:t>
            </a:r>
          </a:p>
          <a:p>
            <a:endParaRPr lang="fr-FR" sz="1200" dirty="0">
              <a:solidFill>
                <a:srgbClr val="0E3449"/>
              </a:solidFill>
              <a:latin typeface="Inter SemiBold"/>
              <a:ea typeface="Inter SemiBold"/>
              <a:cs typeface="Inter SemiBold"/>
              <a:sym typeface="Inter SemiBold"/>
            </a:endParaRPr>
          </a:p>
          <a:p>
            <a:endParaRPr lang="fr-FR" sz="1200" dirty="0">
              <a:solidFill>
                <a:srgbClr val="0E3449"/>
              </a:solidFill>
              <a:latin typeface="Inter SemiBold"/>
              <a:ea typeface="Inter SemiBold"/>
              <a:cs typeface="Inter SemiBold"/>
              <a:sym typeface="Inter SemiBold"/>
            </a:endParaRPr>
          </a:p>
          <a:p>
            <a:endParaRPr lang="fr-FR" sz="1200" dirty="0">
              <a:solidFill>
                <a:srgbClr val="0E3449"/>
              </a:solidFill>
              <a:latin typeface="Inter SemiBold"/>
              <a:ea typeface="Inter SemiBold"/>
              <a:cs typeface="Inter SemiBold"/>
              <a:sym typeface="Inter SemiBold"/>
            </a:endParaRPr>
          </a:p>
          <a:p>
            <a:endParaRPr lang="fr-FR" sz="1200" dirty="0">
              <a:solidFill>
                <a:srgbClr val="0E3449"/>
              </a:solidFill>
              <a:latin typeface="Inter SemiBold"/>
              <a:ea typeface="Inter SemiBold"/>
              <a:cs typeface="Inter SemiBold"/>
              <a:sym typeface="Inter SemiBold"/>
            </a:endParaRPr>
          </a:p>
          <a:p>
            <a:endParaRPr lang="fr-FR" sz="1200" dirty="0">
              <a:solidFill>
                <a:srgbClr val="0E3449"/>
              </a:solidFill>
              <a:latin typeface="Inter SemiBold"/>
              <a:ea typeface="Inter SemiBold"/>
              <a:cs typeface="Inter SemiBold"/>
              <a:sym typeface="Inter SemiBold"/>
            </a:endParaRPr>
          </a:p>
          <a:p>
            <a:endParaRPr lang="fr-FR" sz="1200" dirty="0">
              <a:solidFill>
                <a:srgbClr val="0E3449"/>
              </a:solidFill>
              <a:latin typeface="Inter SemiBold"/>
              <a:ea typeface="Inter SemiBold"/>
              <a:cs typeface="Inter SemiBold"/>
              <a:sym typeface="Inter SemiBold"/>
            </a:endParaRPr>
          </a:p>
        </p:txBody>
      </p:sp>
      <p:pic>
        <p:nvPicPr>
          <p:cNvPr id="9" name="Image 8">
            <a:extLst>
              <a:ext uri="{FF2B5EF4-FFF2-40B4-BE49-F238E27FC236}">
                <a16:creationId xmlns:a16="http://schemas.microsoft.com/office/drawing/2014/main" id="{82EE1ABA-89E6-C65F-B0F7-54E6AF30B00A}"/>
              </a:ext>
            </a:extLst>
          </p:cNvPr>
          <p:cNvPicPr>
            <a:picLocks noChangeAspect="1"/>
          </p:cNvPicPr>
          <p:nvPr/>
        </p:nvPicPr>
        <p:blipFill>
          <a:blip r:embed="rId4"/>
          <a:stretch>
            <a:fillRect/>
          </a:stretch>
        </p:blipFill>
        <p:spPr>
          <a:xfrm>
            <a:off x="613624" y="3429947"/>
            <a:ext cx="1230044" cy="1230701"/>
          </a:xfrm>
          <a:prstGeom prst="rect">
            <a:avLst/>
          </a:prstGeom>
        </p:spPr>
      </p:pic>
      <p:sp>
        <p:nvSpPr>
          <p:cNvPr id="10" name="ZoneTexte 9">
            <a:extLst>
              <a:ext uri="{FF2B5EF4-FFF2-40B4-BE49-F238E27FC236}">
                <a16:creationId xmlns:a16="http://schemas.microsoft.com/office/drawing/2014/main" id="{F328BEBD-054C-0C34-0D53-D71580141319}"/>
              </a:ext>
            </a:extLst>
          </p:cNvPr>
          <p:cNvSpPr txBox="1"/>
          <p:nvPr/>
        </p:nvSpPr>
        <p:spPr>
          <a:xfrm>
            <a:off x="3340900" y="213575"/>
            <a:ext cx="2698595" cy="369332"/>
          </a:xfrm>
          <a:prstGeom prst="rect">
            <a:avLst/>
          </a:prstGeom>
          <a:noFill/>
        </p:spPr>
        <p:txBody>
          <a:bodyPr wrap="square" rtlCol="0">
            <a:spAutoFit/>
          </a:bodyPr>
          <a:lstStyle/>
          <a:p>
            <a:r>
              <a:rPr kumimoji="0" lang="fr-FR" sz="1800" b="1" i="0" u="none" strike="noStrike" kern="0" cap="none" spc="0" normalizeH="0" baseline="0" noProof="0" dirty="0">
                <a:ln>
                  <a:noFill/>
                </a:ln>
                <a:solidFill>
                  <a:srgbClr val="0E3449"/>
                </a:solidFill>
                <a:effectLst/>
                <a:uLnTx/>
                <a:uFillTx/>
                <a:latin typeface="Inter"/>
                <a:ea typeface="Inter"/>
                <a:cs typeface="Inter"/>
                <a:sym typeface="Inter"/>
              </a:rPr>
              <a:t>Tables clés exploitées</a:t>
            </a:r>
            <a:endParaRPr lang="fr-F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7">
          <a:extLst>
            <a:ext uri="{FF2B5EF4-FFF2-40B4-BE49-F238E27FC236}">
              <a16:creationId xmlns:a16="http://schemas.microsoft.com/office/drawing/2014/main" id="{2B4070AB-4F92-1D6B-B558-CA776A984451}"/>
            </a:ext>
          </a:extLst>
        </p:cNvPr>
        <p:cNvGrpSpPr/>
        <p:nvPr/>
      </p:nvGrpSpPr>
      <p:grpSpPr>
        <a:xfrm>
          <a:off x="0" y="0"/>
          <a:ext cx="0" cy="0"/>
          <a:chOff x="0" y="0"/>
          <a:chExt cx="0" cy="0"/>
        </a:xfrm>
      </p:grpSpPr>
      <p:sp>
        <p:nvSpPr>
          <p:cNvPr id="68" name="Google Shape;68;p15">
            <a:extLst>
              <a:ext uri="{FF2B5EF4-FFF2-40B4-BE49-F238E27FC236}">
                <a16:creationId xmlns:a16="http://schemas.microsoft.com/office/drawing/2014/main" id="{9A5B8568-1F1B-2BB6-9211-0B67AFE7BBF5}"/>
              </a:ext>
            </a:extLst>
          </p:cNvPr>
          <p:cNvSpPr txBox="1">
            <a:spLocks noGrp="1"/>
          </p:cNvSpPr>
          <p:nvPr>
            <p:ph type="ctrTitle" idx="4294967295"/>
          </p:nvPr>
        </p:nvSpPr>
        <p:spPr>
          <a:xfrm>
            <a:off x="1192664" y="403309"/>
            <a:ext cx="7118712" cy="57992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sz="2500" dirty="0">
                <a:solidFill>
                  <a:srgbClr val="0E3449"/>
                </a:solidFill>
                <a:latin typeface="Inter SemiBold"/>
                <a:ea typeface="Inter SemiBold"/>
                <a:cs typeface="Inter SemiBold"/>
                <a:sym typeface="Inter SemiBold"/>
              </a:rPr>
              <a:t>Prototype exploratoire &amp; scoring des avis </a:t>
            </a:r>
            <a:endParaRPr sz="2500" dirty="0">
              <a:solidFill>
                <a:srgbClr val="0E3449"/>
              </a:solidFill>
              <a:latin typeface="Inter SemiBold"/>
              <a:ea typeface="Inter SemiBold"/>
              <a:cs typeface="Inter SemiBold"/>
              <a:sym typeface="Inter SemiBold"/>
            </a:endParaRPr>
          </a:p>
        </p:txBody>
      </p:sp>
      <p:pic>
        <p:nvPicPr>
          <p:cNvPr id="75" name="Google Shape;75;p15">
            <a:extLst>
              <a:ext uri="{FF2B5EF4-FFF2-40B4-BE49-F238E27FC236}">
                <a16:creationId xmlns:a16="http://schemas.microsoft.com/office/drawing/2014/main" id="{1BC59739-AE66-CCFA-5241-49960C1B1A37}"/>
              </a:ext>
            </a:extLst>
          </p:cNvPr>
          <p:cNvPicPr preferRelativeResize="0"/>
          <p:nvPr/>
        </p:nvPicPr>
        <p:blipFill>
          <a:blip r:embed="rId3">
            <a:alphaModFix/>
          </a:blip>
          <a:stretch>
            <a:fillRect/>
          </a:stretch>
        </p:blipFill>
        <p:spPr>
          <a:xfrm>
            <a:off x="463375" y="482852"/>
            <a:ext cx="576900" cy="385904"/>
          </a:xfrm>
          <a:prstGeom prst="rect">
            <a:avLst/>
          </a:prstGeom>
          <a:noFill/>
          <a:ln>
            <a:noFill/>
          </a:ln>
        </p:spPr>
      </p:pic>
      <p:sp>
        <p:nvSpPr>
          <p:cNvPr id="76" name="Google Shape;76;p15">
            <a:extLst>
              <a:ext uri="{FF2B5EF4-FFF2-40B4-BE49-F238E27FC236}">
                <a16:creationId xmlns:a16="http://schemas.microsoft.com/office/drawing/2014/main" id="{62175A14-FB7D-CD28-FFBE-4767102071EB}"/>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69;p15">
            <a:extLst>
              <a:ext uri="{FF2B5EF4-FFF2-40B4-BE49-F238E27FC236}">
                <a16:creationId xmlns:a16="http://schemas.microsoft.com/office/drawing/2014/main" id="{4D62C975-D51B-4EE6-1FC2-2A532232745D}"/>
              </a:ext>
            </a:extLst>
          </p:cNvPr>
          <p:cNvSpPr txBox="1">
            <a:spLocks/>
          </p:cNvSpPr>
          <p:nvPr/>
        </p:nvSpPr>
        <p:spPr>
          <a:xfrm>
            <a:off x="237419" y="1166032"/>
            <a:ext cx="2566741" cy="3215468"/>
          </a:xfrm>
          <a:prstGeom prst="rect">
            <a:avLst/>
          </a:prstGeom>
          <a:ln/>
        </p:spPr>
        <p:style>
          <a:lnRef idx="0">
            <a:schemeClr val="accent5"/>
          </a:lnRef>
          <a:fillRef idx="3">
            <a:schemeClr val="accent5"/>
          </a:fillRef>
          <a:effectRef idx="3">
            <a:schemeClr val="accent5"/>
          </a:effectRef>
          <a:fontRef idx="minor">
            <a:schemeClr val="lt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fr-FR" sz="1200" dirty="0"/>
              <a:t>🧪  </a:t>
            </a:r>
            <a:r>
              <a:rPr lang="fr-FR" sz="1200" b="1" dirty="0">
                <a:solidFill>
                  <a:srgbClr val="4B5258"/>
                </a:solidFill>
                <a:latin typeface="Inter Medium"/>
                <a:ea typeface="Inter Medium"/>
                <a:cs typeface="Inter Medium"/>
                <a:sym typeface="Inter Medium"/>
              </a:rPr>
              <a:t>Objectif du prototype  : 	</a:t>
            </a:r>
          </a:p>
          <a:p>
            <a:r>
              <a:rPr lang="fr-FR" sz="1200" dirty="0">
                <a:solidFill>
                  <a:srgbClr val="4B5258"/>
                </a:solidFill>
                <a:latin typeface="Inter Medium"/>
                <a:ea typeface="Inter Medium"/>
                <a:cs typeface="Inter Medium"/>
                <a:sym typeface="Inter Medium"/>
              </a:rPr>
              <a:t>1- Valider la faisabilité technique et analytique sur un échantillon de 10 produits avec 2592 avis </a:t>
            </a:r>
          </a:p>
          <a:p>
            <a:endParaRPr lang="fr-FR" sz="1200" dirty="0">
              <a:solidFill>
                <a:srgbClr val="4B5258"/>
              </a:solidFill>
              <a:latin typeface="Inter Medium"/>
              <a:ea typeface="Inter Medium"/>
              <a:cs typeface="Inter Medium"/>
              <a:sym typeface="Inter Medium"/>
            </a:endParaRPr>
          </a:p>
          <a:p>
            <a:endParaRPr lang="fr-FR" sz="1200" dirty="0">
              <a:solidFill>
                <a:srgbClr val="4B5258"/>
              </a:solidFill>
              <a:latin typeface="Inter Medium"/>
              <a:ea typeface="Inter Medium"/>
              <a:cs typeface="Inter Medium"/>
              <a:sym typeface="Inter Medium"/>
            </a:endParaRPr>
          </a:p>
          <a:p>
            <a:endParaRPr lang="fr-FR" sz="1200" dirty="0">
              <a:solidFill>
                <a:srgbClr val="4B5258"/>
              </a:solidFill>
              <a:latin typeface="Inter Medium"/>
              <a:ea typeface="Inter Medium"/>
              <a:cs typeface="Inter Medium"/>
              <a:sym typeface="Inter Medium"/>
            </a:endParaRPr>
          </a:p>
          <a:p>
            <a:r>
              <a:rPr lang="fr-FR" sz="1200" dirty="0">
                <a:solidFill>
                  <a:srgbClr val="4B5258"/>
                </a:solidFill>
                <a:latin typeface="Inter Medium"/>
                <a:ea typeface="Inter Medium"/>
                <a:cs typeface="Inter Medium"/>
                <a:sym typeface="Inter Medium"/>
              </a:rPr>
              <a:t>2- Tester la sélection des variables et tables pertinentes </a:t>
            </a:r>
          </a:p>
          <a:p>
            <a:pPr algn="ctr"/>
            <a:endParaRPr lang="fr-FR" sz="1200" dirty="0">
              <a:solidFill>
                <a:srgbClr val="4B5258"/>
              </a:solidFill>
              <a:latin typeface="Inter Medium"/>
              <a:ea typeface="Inter Medium"/>
              <a:cs typeface="Inter Medium"/>
              <a:sym typeface="Inter Medium"/>
            </a:endParaRPr>
          </a:p>
        </p:txBody>
      </p:sp>
      <p:sp>
        <p:nvSpPr>
          <p:cNvPr id="4" name="Google Shape;69;p15">
            <a:extLst>
              <a:ext uri="{FF2B5EF4-FFF2-40B4-BE49-F238E27FC236}">
                <a16:creationId xmlns:a16="http://schemas.microsoft.com/office/drawing/2014/main" id="{2F7056D9-CD6E-FF98-7405-B3F753A314C0}"/>
              </a:ext>
            </a:extLst>
          </p:cNvPr>
          <p:cNvSpPr txBox="1">
            <a:spLocks/>
          </p:cNvSpPr>
          <p:nvPr/>
        </p:nvSpPr>
        <p:spPr>
          <a:xfrm>
            <a:off x="3386481" y="1166032"/>
            <a:ext cx="2731078" cy="3215295"/>
          </a:xfrm>
          <a:prstGeom prst="rect">
            <a:avLst/>
          </a:prstGeom>
          <a:ln/>
        </p:spPr>
        <p:style>
          <a:lnRef idx="0">
            <a:schemeClr val="accent1"/>
          </a:lnRef>
          <a:fillRef idx="3">
            <a:schemeClr val="accent1"/>
          </a:fillRef>
          <a:effectRef idx="3">
            <a:schemeClr val="accent1"/>
          </a:effectRef>
          <a:fontRef idx="minor">
            <a:schemeClr val="lt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fr-FR" sz="1200" dirty="0"/>
              <a:t>⚙️  </a:t>
            </a:r>
            <a:r>
              <a:rPr lang="fr-FR" sz="1200" b="1" dirty="0">
                <a:solidFill>
                  <a:srgbClr val="4B5258"/>
                </a:solidFill>
                <a:latin typeface="Inter Medium"/>
                <a:ea typeface="Inter Medium"/>
                <a:cs typeface="Inter Medium"/>
                <a:sym typeface="Inter Medium"/>
              </a:rPr>
              <a:t>Traitement Réalisés  :</a:t>
            </a:r>
          </a:p>
          <a:p>
            <a:endParaRPr lang="fr-FR" sz="1200" b="1" dirty="0">
              <a:solidFill>
                <a:srgbClr val="4B5258"/>
              </a:solidFill>
              <a:latin typeface="Inter Medium"/>
              <a:ea typeface="Inter Medium"/>
              <a:cs typeface="Inter Medium"/>
              <a:sym typeface="Inter Medium"/>
            </a:endParaRPr>
          </a:p>
          <a:p>
            <a:pPr lvl="2" algn="ctr"/>
            <a:r>
              <a:rPr lang="fr-FR" sz="1200" dirty="0">
                <a:solidFill>
                  <a:srgbClr val="4B5258"/>
                </a:solidFill>
                <a:latin typeface="Inter Medium"/>
                <a:ea typeface="Inter Medium"/>
                <a:cs typeface="Inter Medium"/>
                <a:sym typeface="Inter Medium"/>
              </a:rPr>
              <a:t>Calculer le score de pertinence pondéré en fonction des variables suivantes   :</a:t>
            </a:r>
          </a:p>
          <a:p>
            <a:pPr lvl="2" algn="ctr"/>
            <a:endParaRPr lang="fr-FR" sz="1200" dirty="0">
              <a:solidFill>
                <a:srgbClr val="4B5258"/>
              </a:solidFill>
              <a:latin typeface="Inter Medium"/>
              <a:ea typeface="Inter Medium"/>
              <a:cs typeface="Inter Medium"/>
              <a:sym typeface="Inter Medium"/>
            </a:endParaRPr>
          </a:p>
          <a:p>
            <a:pPr lvl="2" algn="ctr"/>
            <a:r>
              <a:rPr lang="fr-FR" sz="1200" b="1" dirty="0">
                <a:solidFill>
                  <a:srgbClr val="4B5258"/>
                </a:solidFill>
                <a:latin typeface="Inter Medium"/>
                <a:ea typeface="Inter Medium"/>
                <a:cs typeface="Inter Medium"/>
                <a:sym typeface="Inter Medium"/>
              </a:rPr>
              <a:t>La taille du texte</a:t>
            </a:r>
            <a:endParaRPr lang="fr-FR" sz="1200" dirty="0">
              <a:solidFill>
                <a:srgbClr val="4B5258"/>
              </a:solidFill>
              <a:latin typeface="Inter Medium"/>
              <a:ea typeface="Inter Medium"/>
              <a:cs typeface="Inter Medium"/>
              <a:sym typeface="Inter Medium"/>
            </a:endParaRPr>
          </a:p>
          <a:p>
            <a:pPr lvl="2" algn="ctr"/>
            <a:endParaRPr lang="fr-FR" sz="1200" dirty="0">
              <a:solidFill>
                <a:srgbClr val="4B5258"/>
              </a:solidFill>
              <a:latin typeface="Inter Medium"/>
              <a:ea typeface="Inter Medium"/>
              <a:cs typeface="Inter Medium"/>
              <a:sym typeface="Inter Medium"/>
            </a:endParaRPr>
          </a:p>
          <a:p>
            <a:pPr lvl="2" algn="ctr"/>
            <a:r>
              <a:rPr lang="fr-FR" sz="1200" b="1" dirty="0">
                <a:solidFill>
                  <a:srgbClr val="4B5258"/>
                </a:solidFill>
                <a:latin typeface="Inter Medium"/>
                <a:ea typeface="Inter Medium"/>
                <a:cs typeface="Inter Medium"/>
                <a:sym typeface="Inter Medium"/>
              </a:rPr>
              <a:t>La présence d’image</a:t>
            </a:r>
            <a:endParaRPr lang="fr-FR" sz="1200" dirty="0">
              <a:solidFill>
                <a:srgbClr val="4B5258"/>
              </a:solidFill>
              <a:latin typeface="Inter Medium"/>
              <a:ea typeface="Inter Medium"/>
              <a:cs typeface="Inter Medium"/>
              <a:sym typeface="Inter Medium"/>
            </a:endParaRPr>
          </a:p>
          <a:p>
            <a:pPr lvl="2" algn="ctr"/>
            <a:endParaRPr lang="fr-FR" sz="1200" dirty="0">
              <a:solidFill>
                <a:srgbClr val="4B5258"/>
              </a:solidFill>
              <a:latin typeface="Inter Medium"/>
              <a:ea typeface="Inter Medium"/>
              <a:cs typeface="Inter Medium"/>
              <a:sym typeface="Inter Medium"/>
            </a:endParaRPr>
          </a:p>
          <a:p>
            <a:pPr lvl="2" algn="ctr"/>
            <a:r>
              <a:rPr lang="fr-FR" sz="1200" b="1" dirty="0">
                <a:solidFill>
                  <a:srgbClr val="4B5258"/>
                </a:solidFill>
                <a:latin typeface="Inter Medium"/>
                <a:ea typeface="Inter Medium"/>
                <a:cs typeface="Inter Medium"/>
                <a:sym typeface="Inter Medium"/>
              </a:rPr>
              <a:t>La vérification de l’achat</a:t>
            </a:r>
          </a:p>
          <a:p>
            <a:pPr lvl="2" algn="ctr"/>
            <a:endParaRPr lang="fr-FR" sz="1200" dirty="0">
              <a:solidFill>
                <a:srgbClr val="4B5258"/>
              </a:solidFill>
              <a:latin typeface="Inter Medium"/>
              <a:ea typeface="Inter Medium"/>
              <a:cs typeface="Inter Medium"/>
              <a:sym typeface="Inter Medium"/>
            </a:endParaRPr>
          </a:p>
          <a:p>
            <a:pPr lvl="2" algn="ctr"/>
            <a:r>
              <a:rPr lang="fr-FR" sz="1200" b="1" dirty="0">
                <a:solidFill>
                  <a:srgbClr val="4B5258"/>
                </a:solidFill>
                <a:latin typeface="Inter Medium"/>
                <a:ea typeface="Inter Medium"/>
                <a:cs typeface="Inter Medium"/>
                <a:sym typeface="Inter Medium"/>
              </a:rPr>
              <a:t>Présence de notes extrêmes</a:t>
            </a:r>
            <a:endParaRPr lang="fr-FR" sz="1200" dirty="0">
              <a:solidFill>
                <a:srgbClr val="4B5258"/>
              </a:solidFill>
              <a:latin typeface="Inter Medium"/>
              <a:ea typeface="Inter Medium"/>
              <a:cs typeface="Inter Medium"/>
              <a:sym typeface="Inter Medium"/>
            </a:endParaRPr>
          </a:p>
          <a:p>
            <a:pPr lvl="2" algn="ctr"/>
            <a:endParaRPr lang="fr-FR" sz="1200" dirty="0">
              <a:solidFill>
                <a:srgbClr val="4B5258"/>
              </a:solidFill>
              <a:latin typeface="Inter Medium"/>
              <a:ea typeface="Inter Medium"/>
              <a:cs typeface="Inter Medium"/>
              <a:sym typeface="Inter Medium"/>
            </a:endParaRPr>
          </a:p>
          <a:p>
            <a:pPr lvl="2" algn="ctr"/>
            <a:r>
              <a:rPr lang="fr-FR" sz="1200" b="1" dirty="0">
                <a:solidFill>
                  <a:srgbClr val="4B5258"/>
                </a:solidFill>
                <a:latin typeface="Inter Medium"/>
                <a:ea typeface="Inter Medium"/>
                <a:cs typeface="Inter Medium"/>
                <a:sym typeface="Inter Medium"/>
              </a:rPr>
              <a:t>Analyse de sentiment (VADER) </a:t>
            </a:r>
            <a:endParaRPr lang="fr-FR" sz="1200" dirty="0">
              <a:solidFill>
                <a:srgbClr val="4B5258"/>
              </a:solidFill>
              <a:latin typeface="Inter Medium"/>
              <a:ea typeface="Inter Medium"/>
              <a:cs typeface="Inter Medium"/>
              <a:sym typeface="Inter Medium"/>
            </a:endParaRPr>
          </a:p>
        </p:txBody>
      </p:sp>
      <p:sp>
        <p:nvSpPr>
          <p:cNvPr id="8" name="Google Shape;69;p15">
            <a:extLst>
              <a:ext uri="{FF2B5EF4-FFF2-40B4-BE49-F238E27FC236}">
                <a16:creationId xmlns:a16="http://schemas.microsoft.com/office/drawing/2014/main" id="{F3081FB4-50D4-6CF6-D915-31E5B0772041}"/>
              </a:ext>
            </a:extLst>
          </p:cNvPr>
          <p:cNvSpPr txBox="1">
            <a:spLocks/>
          </p:cNvSpPr>
          <p:nvPr/>
        </p:nvSpPr>
        <p:spPr>
          <a:xfrm>
            <a:off x="6699880" y="1166032"/>
            <a:ext cx="2093600" cy="3215295"/>
          </a:xfrm>
          <a:prstGeom prst="rect">
            <a:avLst/>
          </a:prstGeom>
          <a:ln/>
        </p:spPr>
        <p:style>
          <a:lnRef idx="0">
            <a:schemeClr val="accent6"/>
          </a:lnRef>
          <a:fillRef idx="3">
            <a:schemeClr val="accent6"/>
          </a:fillRef>
          <a:effectRef idx="3">
            <a:schemeClr val="accent6"/>
          </a:effectRef>
          <a:fontRef idx="minor">
            <a:schemeClr val="lt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fr-FR" sz="1200" dirty="0"/>
              <a:t>📊  </a:t>
            </a:r>
            <a:r>
              <a:rPr lang="fr-FR" sz="1200" b="1" dirty="0">
                <a:solidFill>
                  <a:srgbClr val="4B5258"/>
                </a:solidFill>
                <a:latin typeface="Inter Medium"/>
                <a:ea typeface="Inter Medium"/>
                <a:sym typeface="Inter Medium"/>
              </a:rPr>
              <a:t>Résultats </a:t>
            </a:r>
            <a:r>
              <a:rPr lang="fr-FR" sz="1200" b="1" dirty="0">
                <a:solidFill>
                  <a:srgbClr val="4B5258"/>
                </a:solidFill>
                <a:latin typeface="Inter Medium"/>
                <a:ea typeface="Inter Medium"/>
                <a:cs typeface="Inter Medium"/>
                <a:sym typeface="Inter Medium"/>
              </a:rPr>
              <a:t>:</a:t>
            </a:r>
          </a:p>
          <a:p>
            <a:pPr lvl="2" algn="ctr"/>
            <a:endParaRPr lang="fr-FR" sz="1200" dirty="0">
              <a:solidFill>
                <a:srgbClr val="4B5258"/>
              </a:solidFill>
              <a:latin typeface="Inter Medium"/>
              <a:ea typeface="Inter Medium"/>
              <a:cs typeface="Inter Medium"/>
              <a:sym typeface="Inter Medium"/>
            </a:endParaRPr>
          </a:p>
          <a:p>
            <a:pPr lvl="2" algn="ctr"/>
            <a:r>
              <a:rPr lang="fr-FR" sz="1200" dirty="0">
                <a:solidFill>
                  <a:srgbClr val="4B5258"/>
                </a:solidFill>
                <a:latin typeface="Inter Medium"/>
                <a:ea typeface="Inter Medium"/>
                <a:cs typeface="Inter Medium"/>
                <a:sym typeface="Inter Medium"/>
              </a:rPr>
              <a:t>Une meilleure compréhension des données </a:t>
            </a:r>
          </a:p>
          <a:p>
            <a:pPr lvl="2" algn="ctr"/>
            <a:endParaRPr lang="fr-FR" sz="1200" dirty="0">
              <a:solidFill>
                <a:srgbClr val="4B5258"/>
              </a:solidFill>
              <a:latin typeface="Inter Medium"/>
              <a:ea typeface="Inter Medium"/>
              <a:cs typeface="Inter Medium"/>
              <a:sym typeface="Inter Medium"/>
            </a:endParaRPr>
          </a:p>
          <a:p>
            <a:pPr lvl="2" algn="ctr"/>
            <a:r>
              <a:rPr lang="fr-FR" sz="1200" dirty="0">
                <a:solidFill>
                  <a:srgbClr val="4B5258"/>
                </a:solidFill>
                <a:latin typeface="Inter Medium"/>
                <a:ea typeface="Inter Medium"/>
                <a:cs typeface="Inter Medium"/>
                <a:sym typeface="Inter Medium"/>
              </a:rPr>
              <a:t>Identification des avis les plus pertinents </a:t>
            </a:r>
          </a:p>
          <a:p>
            <a:pPr lvl="2" algn="ctr"/>
            <a:endParaRPr lang="fr-FR" sz="1200" dirty="0">
              <a:solidFill>
                <a:srgbClr val="4B5258"/>
              </a:solidFill>
              <a:latin typeface="Inter Medium"/>
              <a:ea typeface="Inter Medium"/>
              <a:cs typeface="Inter Medium"/>
              <a:sym typeface="Inter Medium"/>
            </a:endParaRPr>
          </a:p>
          <a:p>
            <a:pPr lvl="2" algn="ctr"/>
            <a:r>
              <a:rPr lang="fr-FR" sz="1200" dirty="0">
                <a:solidFill>
                  <a:srgbClr val="4B5258"/>
                </a:solidFill>
                <a:latin typeface="Inter Medium"/>
                <a:ea typeface="Inter Medium"/>
                <a:cs typeface="Inter Medium"/>
                <a:sym typeface="Inter Medium"/>
              </a:rPr>
              <a:t>Préparation du pipeline pour exploitation à grande échelle</a:t>
            </a:r>
          </a:p>
          <a:p>
            <a:endParaRPr lang="fr-FR" sz="1200" b="1" dirty="0">
              <a:solidFill>
                <a:srgbClr val="4B5258"/>
              </a:solidFill>
              <a:latin typeface="Inter Medium"/>
              <a:ea typeface="Inter Medium"/>
              <a:cs typeface="Inter Medium"/>
              <a:sym typeface="Inter Medium"/>
            </a:endParaRPr>
          </a:p>
          <a:p>
            <a:endParaRPr lang="fr-FR" sz="1200" dirty="0">
              <a:solidFill>
                <a:srgbClr val="4B5258"/>
              </a:solidFill>
              <a:latin typeface="Inter Medium"/>
              <a:ea typeface="Inter Medium"/>
              <a:cs typeface="Inter Medium"/>
              <a:sym typeface="Inter Medium"/>
            </a:endParaRPr>
          </a:p>
        </p:txBody>
      </p:sp>
      <p:sp>
        <p:nvSpPr>
          <p:cNvPr id="5" name="Flèche : droite 4">
            <a:extLst>
              <a:ext uri="{FF2B5EF4-FFF2-40B4-BE49-F238E27FC236}">
                <a16:creationId xmlns:a16="http://schemas.microsoft.com/office/drawing/2014/main" id="{84D0158E-9F5D-9413-935A-54FD59010C60}"/>
              </a:ext>
            </a:extLst>
          </p:cNvPr>
          <p:cNvSpPr/>
          <p:nvPr/>
        </p:nvSpPr>
        <p:spPr>
          <a:xfrm>
            <a:off x="2904170" y="2486025"/>
            <a:ext cx="382301" cy="1714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Flèche : droite 5">
            <a:extLst>
              <a:ext uri="{FF2B5EF4-FFF2-40B4-BE49-F238E27FC236}">
                <a16:creationId xmlns:a16="http://schemas.microsoft.com/office/drawing/2014/main" id="{C7428693-0559-1C2E-5499-6AE916DF0B9A}"/>
              </a:ext>
            </a:extLst>
          </p:cNvPr>
          <p:cNvSpPr/>
          <p:nvPr/>
        </p:nvSpPr>
        <p:spPr>
          <a:xfrm>
            <a:off x="6217569" y="2516504"/>
            <a:ext cx="382301" cy="1714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138780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7">
          <a:extLst>
            <a:ext uri="{FF2B5EF4-FFF2-40B4-BE49-F238E27FC236}">
              <a16:creationId xmlns:a16="http://schemas.microsoft.com/office/drawing/2014/main" id="{CE0942EA-A378-739F-8BD4-E6D772389FEA}"/>
            </a:ext>
          </a:extLst>
        </p:cNvPr>
        <p:cNvGrpSpPr/>
        <p:nvPr/>
      </p:nvGrpSpPr>
      <p:grpSpPr>
        <a:xfrm>
          <a:off x="0" y="0"/>
          <a:ext cx="0" cy="0"/>
          <a:chOff x="0" y="0"/>
          <a:chExt cx="0" cy="0"/>
        </a:xfrm>
      </p:grpSpPr>
      <p:sp>
        <p:nvSpPr>
          <p:cNvPr id="68" name="Google Shape;68;p15">
            <a:extLst>
              <a:ext uri="{FF2B5EF4-FFF2-40B4-BE49-F238E27FC236}">
                <a16:creationId xmlns:a16="http://schemas.microsoft.com/office/drawing/2014/main" id="{AEDFE884-BBF1-CB65-929E-B7B3BEC0FF3C}"/>
              </a:ext>
            </a:extLst>
          </p:cNvPr>
          <p:cNvSpPr txBox="1">
            <a:spLocks noGrp="1"/>
          </p:cNvSpPr>
          <p:nvPr>
            <p:ph type="ctrTitle" idx="4294967295"/>
          </p:nvPr>
        </p:nvSpPr>
        <p:spPr>
          <a:xfrm>
            <a:off x="1192664" y="403309"/>
            <a:ext cx="5315100" cy="53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sz="1800" dirty="0">
                <a:solidFill>
                  <a:srgbClr val="0E3449"/>
                </a:solidFill>
                <a:latin typeface="Inter SemiBold"/>
                <a:ea typeface="Inter SemiBold"/>
                <a:cs typeface="Inter SemiBold"/>
                <a:sym typeface="Inter SemiBold"/>
              </a:rPr>
              <a:t>Exploration des données et biais potentiels </a:t>
            </a:r>
            <a:endParaRPr sz="1800" dirty="0">
              <a:solidFill>
                <a:srgbClr val="0E3449"/>
              </a:solidFill>
              <a:latin typeface="Inter SemiBold"/>
              <a:ea typeface="Inter SemiBold"/>
              <a:cs typeface="Inter SemiBold"/>
              <a:sym typeface="Inter SemiBold"/>
            </a:endParaRPr>
          </a:p>
        </p:txBody>
      </p:sp>
      <p:pic>
        <p:nvPicPr>
          <p:cNvPr id="75" name="Google Shape;75;p15">
            <a:extLst>
              <a:ext uri="{FF2B5EF4-FFF2-40B4-BE49-F238E27FC236}">
                <a16:creationId xmlns:a16="http://schemas.microsoft.com/office/drawing/2014/main" id="{011B0237-E1A4-98EB-3E98-5206190ABA98}"/>
              </a:ext>
            </a:extLst>
          </p:cNvPr>
          <p:cNvPicPr preferRelativeResize="0"/>
          <p:nvPr/>
        </p:nvPicPr>
        <p:blipFill>
          <a:blip r:embed="rId3">
            <a:alphaModFix/>
          </a:blip>
          <a:stretch>
            <a:fillRect/>
          </a:stretch>
        </p:blipFill>
        <p:spPr>
          <a:xfrm>
            <a:off x="463375" y="482852"/>
            <a:ext cx="576900" cy="385904"/>
          </a:xfrm>
          <a:prstGeom prst="rect">
            <a:avLst/>
          </a:prstGeom>
          <a:noFill/>
          <a:ln>
            <a:noFill/>
          </a:ln>
        </p:spPr>
      </p:pic>
      <p:sp>
        <p:nvSpPr>
          <p:cNvPr id="76" name="Google Shape;76;p15">
            <a:extLst>
              <a:ext uri="{FF2B5EF4-FFF2-40B4-BE49-F238E27FC236}">
                <a16:creationId xmlns:a16="http://schemas.microsoft.com/office/drawing/2014/main" id="{3260302A-619F-512F-363C-796251050D94}"/>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 name="Image 4">
            <a:extLst>
              <a:ext uri="{FF2B5EF4-FFF2-40B4-BE49-F238E27FC236}">
                <a16:creationId xmlns:a16="http://schemas.microsoft.com/office/drawing/2014/main" id="{8F9D7735-0D4F-63D1-2C96-757C0A34DCF6}"/>
              </a:ext>
            </a:extLst>
          </p:cNvPr>
          <p:cNvPicPr>
            <a:picLocks noChangeAspect="1"/>
          </p:cNvPicPr>
          <p:nvPr/>
        </p:nvPicPr>
        <p:blipFill>
          <a:blip r:embed="rId4"/>
          <a:stretch>
            <a:fillRect/>
          </a:stretch>
        </p:blipFill>
        <p:spPr>
          <a:xfrm>
            <a:off x="557562" y="1105936"/>
            <a:ext cx="3913066" cy="2812921"/>
          </a:xfrm>
          <a:prstGeom prst="rect">
            <a:avLst/>
          </a:prstGeom>
        </p:spPr>
      </p:pic>
      <p:pic>
        <p:nvPicPr>
          <p:cNvPr id="7" name="Image 6">
            <a:extLst>
              <a:ext uri="{FF2B5EF4-FFF2-40B4-BE49-F238E27FC236}">
                <a16:creationId xmlns:a16="http://schemas.microsoft.com/office/drawing/2014/main" id="{6E1297CD-DBF9-63AE-3BBA-CC36DD9B923D}"/>
              </a:ext>
            </a:extLst>
          </p:cNvPr>
          <p:cNvPicPr>
            <a:picLocks noChangeAspect="1"/>
          </p:cNvPicPr>
          <p:nvPr/>
        </p:nvPicPr>
        <p:blipFill>
          <a:blip r:embed="rId5"/>
          <a:stretch>
            <a:fillRect/>
          </a:stretch>
        </p:blipFill>
        <p:spPr>
          <a:xfrm>
            <a:off x="4903490" y="1047697"/>
            <a:ext cx="4217698" cy="2209309"/>
          </a:xfrm>
          <a:prstGeom prst="rect">
            <a:avLst/>
          </a:prstGeom>
        </p:spPr>
      </p:pic>
    </p:spTree>
    <p:extLst>
      <p:ext uri="{BB962C8B-B14F-4D97-AF65-F5344CB8AC3E}">
        <p14:creationId xmlns:p14="http://schemas.microsoft.com/office/powerpoint/2010/main" val="3669712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AD06EE3C-1B3A-7AE0-38CC-8F18574DC713}"/>
            </a:ext>
          </a:extLst>
        </p:cNvPr>
        <p:cNvGrpSpPr/>
        <p:nvPr/>
      </p:nvGrpSpPr>
      <p:grpSpPr>
        <a:xfrm>
          <a:off x="0" y="0"/>
          <a:ext cx="0" cy="0"/>
          <a:chOff x="0" y="0"/>
          <a:chExt cx="0" cy="0"/>
        </a:xfrm>
      </p:grpSpPr>
      <p:sp>
        <p:nvSpPr>
          <p:cNvPr id="62" name="Google Shape;62;p14">
            <a:extLst>
              <a:ext uri="{FF2B5EF4-FFF2-40B4-BE49-F238E27FC236}">
                <a16:creationId xmlns:a16="http://schemas.microsoft.com/office/drawing/2014/main" id="{6EC9F790-143A-6FD2-C1E2-EA74D1AF67C1}"/>
              </a:ext>
            </a:extLst>
          </p:cNvPr>
          <p:cNvSpPr txBox="1">
            <a:spLocks noGrp="1"/>
          </p:cNvSpPr>
          <p:nvPr>
            <p:ph type="ctrTitle" idx="4294967295"/>
          </p:nvPr>
        </p:nvSpPr>
        <p:spPr>
          <a:xfrm>
            <a:off x="564486" y="825519"/>
            <a:ext cx="6617979" cy="48865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1800" b="1" dirty="0">
                <a:solidFill>
                  <a:srgbClr val="0E3449"/>
                </a:solidFill>
                <a:latin typeface="Inter"/>
                <a:ea typeface="Inter"/>
                <a:cs typeface="Inter"/>
                <a:sym typeface="Inter"/>
              </a:rPr>
              <a:t>Justification des pondérations du score de pertinence </a:t>
            </a:r>
            <a:br>
              <a:rPr lang="fr-FR" sz="1800" b="1" dirty="0">
                <a:solidFill>
                  <a:srgbClr val="0E3449"/>
                </a:solidFill>
                <a:latin typeface="Inter"/>
                <a:ea typeface="Inter"/>
                <a:cs typeface="Inter"/>
                <a:sym typeface="Inter"/>
              </a:rPr>
            </a:br>
            <a:endParaRPr lang="fr-FR" sz="1800" b="1" dirty="0">
              <a:solidFill>
                <a:srgbClr val="0E3449"/>
              </a:solidFill>
              <a:latin typeface="Inter"/>
              <a:ea typeface="Inter"/>
              <a:cs typeface="Inter"/>
              <a:sym typeface="Inter"/>
            </a:endParaRPr>
          </a:p>
        </p:txBody>
      </p:sp>
      <p:pic>
        <p:nvPicPr>
          <p:cNvPr id="63" name="Google Shape;63;p14">
            <a:extLst>
              <a:ext uri="{FF2B5EF4-FFF2-40B4-BE49-F238E27FC236}">
                <a16:creationId xmlns:a16="http://schemas.microsoft.com/office/drawing/2014/main" id="{A4C21E2A-DE6F-003D-A416-CB920AC6359F}"/>
              </a:ext>
            </a:extLst>
          </p:cNvPr>
          <p:cNvPicPr preferRelativeResize="0"/>
          <p:nvPr/>
        </p:nvPicPr>
        <p:blipFill>
          <a:blip r:embed="rId3">
            <a:alphaModFix/>
          </a:blip>
          <a:stretch>
            <a:fillRect/>
          </a:stretch>
        </p:blipFill>
        <p:spPr>
          <a:xfrm>
            <a:off x="448506" y="289900"/>
            <a:ext cx="576900" cy="385904"/>
          </a:xfrm>
          <a:prstGeom prst="rect">
            <a:avLst/>
          </a:prstGeom>
          <a:noFill/>
          <a:ln>
            <a:noFill/>
          </a:ln>
        </p:spPr>
      </p:pic>
      <p:graphicFrame>
        <p:nvGraphicFramePr>
          <p:cNvPr id="2" name="Tableau 1">
            <a:extLst>
              <a:ext uri="{FF2B5EF4-FFF2-40B4-BE49-F238E27FC236}">
                <a16:creationId xmlns:a16="http://schemas.microsoft.com/office/drawing/2014/main" id="{B5673D83-BB82-8391-159B-32DE3D854E69}"/>
              </a:ext>
            </a:extLst>
          </p:cNvPr>
          <p:cNvGraphicFramePr>
            <a:graphicFrameLocks noGrp="1"/>
          </p:cNvGraphicFramePr>
          <p:nvPr>
            <p:extLst>
              <p:ext uri="{D42A27DB-BD31-4B8C-83A1-F6EECF244321}">
                <p14:modId xmlns:p14="http://schemas.microsoft.com/office/powerpoint/2010/main" val="1664438325"/>
              </p:ext>
            </p:extLst>
          </p:nvPr>
        </p:nvGraphicFramePr>
        <p:xfrm>
          <a:off x="564486" y="1412266"/>
          <a:ext cx="8196057" cy="3047224"/>
        </p:xfrm>
        <a:graphic>
          <a:graphicData uri="http://schemas.openxmlformats.org/drawingml/2006/table">
            <a:tbl>
              <a:tblPr firstRow="1" bandRow="1">
                <a:tableStyleId>{5C22544A-7EE6-4342-B048-85BDC9FD1C3A}</a:tableStyleId>
              </a:tblPr>
              <a:tblGrid>
                <a:gridCol w="1706766">
                  <a:extLst>
                    <a:ext uri="{9D8B030D-6E8A-4147-A177-3AD203B41FA5}">
                      <a16:colId xmlns:a16="http://schemas.microsoft.com/office/drawing/2014/main" val="2218493701"/>
                    </a:ext>
                  </a:extLst>
                </a:gridCol>
                <a:gridCol w="1880419">
                  <a:extLst>
                    <a:ext uri="{9D8B030D-6E8A-4147-A177-3AD203B41FA5}">
                      <a16:colId xmlns:a16="http://schemas.microsoft.com/office/drawing/2014/main" val="4060954411"/>
                    </a:ext>
                  </a:extLst>
                </a:gridCol>
                <a:gridCol w="4608872">
                  <a:extLst>
                    <a:ext uri="{9D8B030D-6E8A-4147-A177-3AD203B41FA5}">
                      <a16:colId xmlns:a16="http://schemas.microsoft.com/office/drawing/2014/main" val="1228628766"/>
                    </a:ext>
                  </a:extLst>
                </a:gridCol>
              </a:tblGrid>
              <a:tr h="547516">
                <a:tc>
                  <a:txBody>
                    <a:bodyPr/>
                    <a:lstStyle/>
                    <a:p>
                      <a:pPr algn="ctr"/>
                      <a:r>
                        <a:rPr lang="fr-FR" dirty="0"/>
                        <a:t>Critère </a:t>
                      </a:r>
                    </a:p>
                  </a:txBody>
                  <a:tcPr/>
                </a:tc>
                <a:tc>
                  <a:txBody>
                    <a:bodyPr/>
                    <a:lstStyle/>
                    <a:p>
                      <a:pPr algn="ctr"/>
                      <a:r>
                        <a:rPr lang="fr-FR" dirty="0"/>
                        <a:t>Poids</a:t>
                      </a:r>
                    </a:p>
                  </a:txBody>
                  <a:tcPr/>
                </a:tc>
                <a:tc>
                  <a:txBody>
                    <a:bodyPr/>
                    <a:lstStyle/>
                    <a:p>
                      <a:pPr algn="ctr"/>
                      <a:r>
                        <a:rPr lang="fr-FR" dirty="0"/>
                        <a:t>Justification clé</a:t>
                      </a:r>
                    </a:p>
                  </a:txBody>
                  <a:tcPr/>
                </a:tc>
                <a:extLst>
                  <a:ext uri="{0D108BD9-81ED-4DB2-BD59-A6C34878D82A}">
                    <a16:rowId xmlns:a16="http://schemas.microsoft.com/office/drawing/2014/main" val="1268853918"/>
                  </a:ext>
                </a:extLst>
              </a:tr>
              <a:tr h="429457">
                <a:tc>
                  <a:txBody>
                    <a:bodyPr/>
                    <a:lstStyle/>
                    <a:p>
                      <a:pPr algn="ctr"/>
                      <a:r>
                        <a:rPr lang="fr-FR" dirty="0"/>
                        <a:t>Longueur du texte</a:t>
                      </a:r>
                    </a:p>
                  </a:txBody>
                  <a:tcPr/>
                </a:tc>
                <a:tc>
                  <a:txBody>
                    <a:bodyPr/>
                    <a:lstStyle/>
                    <a:p>
                      <a:pPr algn="ctr"/>
                      <a:r>
                        <a:rPr lang="fr-FR" dirty="0"/>
                        <a:t>25%</a:t>
                      </a:r>
                    </a:p>
                  </a:txBody>
                  <a:tcPr/>
                </a:tc>
                <a:tc>
                  <a:txBody>
                    <a:bodyPr/>
                    <a:lstStyle/>
                    <a:p>
                      <a:pPr algn="l"/>
                      <a:r>
                        <a:rPr lang="fr-FR" sz="1050" dirty="0"/>
                        <a:t>Texte plus long = avis  souvent plus détaillé et utile. Ajustement possible : certains avis négatifs sont détaillés  à 186 caractères</a:t>
                      </a:r>
                    </a:p>
                  </a:txBody>
                  <a:tcPr/>
                </a:tc>
                <a:extLst>
                  <a:ext uri="{0D108BD9-81ED-4DB2-BD59-A6C34878D82A}">
                    <a16:rowId xmlns:a16="http://schemas.microsoft.com/office/drawing/2014/main" val="3745844167"/>
                  </a:ext>
                </a:extLst>
              </a:tr>
              <a:tr h="427703">
                <a:tc>
                  <a:txBody>
                    <a:bodyPr/>
                    <a:lstStyle/>
                    <a:p>
                      <a:pPr algn="ctr"/>
                      <a:r>
                        <a:rPr lang="fr-FR" dirty="0"/>
                        <a:t>Présence d’images</a:t>
                      </a:r>
                    </a:p>
                  </a:txBody>
                  <a:tcPr/>
                </a:tc>
                <a:tc>
                  <a:txBody>
                    <a:bodyPr/>
                    <a:lstStyle/>
                    <a:p>
                      <a:pPr algn="ctr"/>
                      <a:r>
                        <a:rPr lang="fr-FR" dirty="0"/>
                        <a:t>20%</a:t>
                      </a:r>
                    </a:p>
                  </a:txBody>
                  <a:tcPr/>
                </a:tc>
                <a:tc>
                  <a:txBody>
                    <a:bodyPr/>
                    <a:lstStyle/>
                    <a:p>
                      <a:pPr algn="l"/>
                      <a:r>
                        <a:rPr lang="fr-FR" sz="1050" dirty="0"/>
                        <a:t>Seuls 31 % des avis contiennent des images, mais forte variation selon la note. (Indicateur d’engagement) </a:t>
                      </a:r>
                    </a:p>
                  </a:txBody>
                  <a:tcPr/>
                </a:tc>
                <a:extLst>
                  <a:ext uri="{0D108BD9-81ED-4DB2-BD59-A6C34878D82A}">
                    <a16:rowId xmlns:a16="http://schemas.microsoft.com/office/drawing/2014/main" val="1600755230"/>
                  </a:ext>
                </a:extLst>
              </a:tr>
              <a:tr h="547516">
                <a:tc>
                  <a:txBody>
                    <a:bodyPr/>
                    <a:lstStyle/>
                    <a:p>
                      <a:pPr algn="ctr"/>
                      <a:r>
                        <a:rPr lang="fr-FR" dirty="0"/>
                        <a:t>Commandes vérifiées</a:t>
                      </a:r>
                    </a:p>
                  </a:txBody>
                  <a:tcPr/>
                </a:tc>
                <a:tc>
                  <a:txBody>
                    <a:bodyPr/>
                    <a:lstStyle/>
                    <a:p>
                      <a:pPr algn="ctr"/>
                      <a:r>
                        <a:rPr lang="fr-FR" dirty="0"/>
                        <a:t>15% </a:t>
                      </a:r>
                    </a:p>
                  </a:txBody>
                  <a:tcPr/>
                </a:tc>
                <a:tc>
                  <a:txBody>
                    <a:bodyPr/>
                    <a:lstStyle/>
                    <a:p>
                      <a:pPr algn="l"/>
                      <a:r>
                        <a:rPr lang="fr-FR" sz="1050" b="0" dirty="0"/>
                        <a:t>Dans</a:t>
                      </a:r>
                      <a:r>
                        <a:rPr lang="fr-FR" b="0" dirty="0"/>
                        <a:t> </a:t>
                      </a:r>
                      <a:r>
                        <a:rPr lang="fr-FR" sz="1050" b="0" dirty="0"/>
                        <a:t>échantillon, tous les avis sont vérifiés (Pas discriminant). Peut être utile sur la globalité des données. </a:t>
                      </a:r>
                      <a:endParaRPr lang="fr-FR" b="0" dirty="0"/>
                    </a:p>
                  </a:txBody>
                  <a:tcPr/>
                </a:tc>
                <a:extLst>
                  <a:ext uri="{0D108BD9-81ED-4DB2-BD59-A6C34878D82A}">
                    <a16:rowId xmlns:a16="http://schemas.microsoft.com/office/drawing/2014/main" val="2787877850"/>
                  </a:ext>
                </a:extLst>
              </a:tr>
              <a:tr h="547516">
                <a:tc>
                  <a:txBody>
                    <a:bodyPr/>
                    <a:lstStyle/>
                    <a:p>
                      <a:pPr algn="ctr"/>
                      <a:r>
                        <a:rPr lang="fr-FR" dirty="0"/>
                        <a:t>Notes extrêmes (1★/5★)</a:t>
                      </a:r>
                    </a:p>
                  </a:txBody>
                  <a:tcPr/>
                </a:tc>
                <a:tc>
                  <a:txBody>
                    <a:bodyPr/>
                    <a:lstStyle/>
                    <a:p>
                      <a:pPr algn="ctr"/>
                      <a:r>
                        <a:rPr lang="fr-FR" dirty="0"/>
                        <a:t>15%</a:t>
                      </a:r>
                    </a:p>
                  </a:txBody>
                  <a:tcPr/>
                </a:tc>
                <a:tc>
                  <a:txBody>
                    <a:bodyPr/>
                    <a:lstStyle/>
                    <a:p>
                      <a:pPr algn="l"/>
                      <a:r>
                        <a:rPr lang="fr-FR" sz="1050" dirty="0"/>
                        <a:t>Les avis très positifs ou très négatifs apportent souvent des informations fortes. Les avis 2★ pourraient aussi être valorisés.</a:t>
                      </a:r>
                    </a:p>
                  </a:txBody>
                  <a:tcPr/>
                </a:tc>
                <a:extLst>
                  <a:ext uri="{0D108BD9-81ED-4DB2-BD59-A6C34878D82A}">
                    <a16:rowId xmlns:a16="http://schemas.microsoft.com/office/drawing/2014/main" val="497159271"/>
                  </a:ext>
                </a:extLst>
              </a:tr>
              <a:tr h="547516">
                <a:tc>
                  <a:txBody>
                    <a:bodyPr/>
                    <a:lstStyle/>
                    <a:p>
                      <a:pPr algn="ctr"/>
                      <a:r>
                        <a:rPr lang="fr-FR" dirty="0"/>
                        <a:t>Score de sentiment</a:t>
                      </a:r>
                    </a:p>
                  </a:txBody>
                  <a:tcPr/>
                </a:tc>
                <a:tc>
                  <a:txBody>
                    <a:bodyPr/>
                    <a:lstStyle/>
                    <a:p>
                      <a:pPr algn="ctr"/>
                      <a:r>
                        <a:rPr lang="fr-FR" dirty="0"/>
                        <a:t>25%</a:t>
                      </a:r>
                    </a:p>
                  </a:txBody>
                  <a:tcPr/>
                </a:tc>
                <a:tc>
                  <a:txBody>
                    <a:bodyPr/>
                    <a:lstStyle/>
                    <a:p>
                      <a:pPr algn="l"/>
                      <a:r>
                        <a:rPr lang="fr-FR" sz="1050" dirty="0"/>
                        <a:t>Analyse de sentiment utile pour détecter les nuances dans les avis moyens (3★ et 4★).</a:t>
                      </a:r>
                    </a:p>
                  </a:txBody>
                  <a:tcPr/>
                </a:tc>
                <a:extLst>
                  <a:ext uri="{0D108BD9-81ED-4DB2-BD59-A6C34878D82A}">
                    <a16:rowId xmlns:a16="http://schemas.microsoft.com/office/drawing/2014/main" val="2417428509"/>
                  </a:ext>
                </a:extLst>
              </a:tr>
            </a:tbl>
          </a:graphicData>
        </a:graphic>
      </p:graphicFrame>
    </p:spTree>
    <p:extLst>
      <p:ext uri="{BB962C8B-B14F-4D97-AF65-F5344CB8AC3E}">
        <p14:creationId xmlns:p14="http://schemas.microsoft.com/office/powerpoint/2010/main" val="2390952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32DAF4E3-B4C2-04F6-D707-9642B290B3CB}"/>
            </a:ext>
          </a:extLst>
        </p:cNvPr>
        <p:cNvGrpSpPr/>
        <p:nvPr/>
      </p:nvGrpSpPr>
      <p:grpSpPr>
        <a:xfrm>
          <a:off x="0" y="0"/>
          <a:ext cx="0" cy="0"/>
          <a:chOff x="0" y="0"/>
          <a:chExt cx="0" cy="0"/>
        </a:xfrm>
      </p:grpSpPr>
      <p:sp>
        <p:nvSpPr>
          <p:cNvPr id="62" name="Google Shape;62;p14">
            <a:extLst>
              <a:ext uri="{FF2B5EF4-FFF2-40B4-BE49-F238E27FC236}">
                <a16:creationId xmlns:a16="http://schemas.microsoft.com/office/drawing/2014/main" id="{0E9ABA33-256F-F22F-4537-18A792CEEEE4}"/>
              </a:ext>
            </a:extLst>
          </p:cNvPr>
          <p:cNvSpPr txBox="1">
            <a:spLocks noGrp="1"/>
          </p:cNvSpPr>
          <p:nvPr>
            <p:ph type="ctrTitle" idx="4294967295"/>
          </p:nvPr>
        </p:nvSpPr>
        <p:spPr>
          <a:xfrm>
            <a:off x="564486" y="724255"/>
            <a:ext cx="8181308" cy="48865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1400" b="1" dirty="0">
                <a:solidFill>
                  <a:srgbClr val="0E3449"/>
                </a:solidFill>
                <a:latin typeface="Inter"/>
                <a:ea typeface="Inter"/>
                <a:cs typeface="Inter"/>
                <a:sym typeface="Inter"/>
              </a:rPr>
              <a:t>Analyse des résultats du score et détermination du seuil de Pertinence (76,4)</a:t>
            </a:r>
          </a:p>
        </p:txBody>
      </p:sp>
      <p:pic>
        <p:nvPicPr>
          <p:cNvPr id="63" name="Google Shape;63;p14">
            <a:extLst>
              <a:ext uri="{FF2B5EF4-FFF2-40B4-BE49-F238E27FC236}">
                <a16:creationId xmlns:a16="http://schemas.microsoft.com/office/drawing/2014/main" id="{45312E80-5FE5-1555-93F3-3A33D644447E}"/>
              </a:ext>
            </a:extLst>
          </p:cNvPr>
          <p:cNvPicPr preferRelativeResize="0"/>
          <p:nvPr/>
        </p:nvPicPr>
        <p:blipFill>
          <a:blip r:embed="rId3">
            <a:alphaModFix/>
          </a:blip>
          <a:stretch>
            <a:fillRect/>
          </a:stretch>
        </p:blipFill>
        <p:spPr>
          <a:xfrm>
            <a:off x="448506" y="289900"/>
            <a:ext cx="576900" cy="385904"/>
          </a:xfrm>
          <a:prstGeom prst="rect">
            <a:avLst/>
          </a:prstGeom>
          <a:noFill/>
          <a:ln>
            <a:noFill/>
          </a:ln>
        </p:spPr>
      </p:pic>
      <p:pic>
        <p:nvPicPr>
          <p:cNvPr id="4" name="Image 3">
            <a:extLst>
              <a:ext uri="{FF2B5EF4-FFF2-40B4-BE49-F238E27FC236}">
                <a16:creationId xmlns:a16="http://schemas.microsoft.com/office/drawing/2014/main" id="{0268A8EC-E286-06B1-CB78-593A134C67BB}"/>
              </a:ext>
            </a:extLst>
          </p:cNvPr>
          <p:cNvPicPr>
            <a:picLocks noChangeAspect="1"/>
          </p:cNvPicPr>
          <p:nvPr/>
        </p:nvPicPr>
        <p:blipFill>
          <a:blip r:embed="rId4"/>
          <a:stretch>
            <a:fillRect/>
          </a:stretch>
        </p:blipFill>
        <p:spPr>
          <a:xfrm>
            <a:off x="186006" y="1153912"/>
            <a:ext cx="8663026" cy="3354888"/>
          </a:xfrm>
          <a:prstGeom prst="rect">
            <a:avLst/>
          </a:prstGeom>
        </p:spPr>
      </p:pic>
    </p:spTree>
    <p:extLst>
      <p:ext uri="{BB962C8B-B14F-4D97-AF65-F5344CB8AC3E}">
        <p14:creationId xmlns:p14="http://schemas.microsoft.com/office/powerpoint/2010/main" val="1886096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733A0E08-A963-C3C8-052B-64187B80DE7B}"/>
            </a:ext>
          </a:extLst>
        </p:cNvPr>
        <p:cNvGrpSpPr/>
        <p:nvPr/>
      </p:nvGrpSpPr>
      <p:grpSpPr>
        <a:xfrm>
          <a:off x="0" y="0"/>
          <a:ext cx="0" cy="0"/>
          <a:chOff x="0" y="0"/>
          <a:chExt cx="0" cy="0"/>
        </a:xfrm>
      </p:grpSpPr>
      <p:sp>
        <p:nvSpPr>
          <p:cNvPr id="62" name="Google Shape;62;p14">
            <a:extLst>
              <a:ext uri="{FF2B5EF4-FFF2-40B4-BE49-F238E27FC236}">
                <a16:creationId xmlns:a16="http://schemas.microsoft.com/office/drawing/2014/main" id="{3DB74406-4859-0070-3022-FE36FB0BA9C5}"/>
              </a:ext>
            </a:extLst>
          </p:cNvPr>
          <p:cNvSpPr txBox="1">
            <a:spLocks noGrp="1"/>
          </p:cNvSpPr>
          <p:nvPr>
            <p:ph type="ctrTitle" idx="4294967295"/>
          </p:nvPr>
        </p:nvSpPr>
        <p:spPr>
          <a:xfrm>
            <a:off x="3151777" y="422985"/>
            <a:ext cx="2826992" cy="498449"/>
          </a:xfrm>
          <a:prstGeom prst="rect">
            <a:avLst/>
          </a:prstGeom>
        </p:spPr>
        <p:txBody>
          <a:bodyPr spcFirstLastPara="1" wrap="square" lIns="91425" tIns="91425" rIns="91425" bIns="91425" anchor="t" anchorCtr="0">
            <a:noAutofit/>
          </a:bodyPr>
          <a:lstStyle/>
          <a:p>
            <a:pPr lvl="0"/>
            <a:r>
              <a:rPr lang="fr-FR" sz="1600" dirty="0"/>
              <a:t>⚡ </a:t>
            </a:r>
            <a:r>
              <a:rPr lang="fr-FR" sz="1600" b="1" dirty="0">
                <a:solidFill>
                  <a:srgbClr val="0E3449"/>
                </a:solidFill>
                <a:latin typeface="Inter"/>
                <a:ea typeface="Inter"/>
                <a:cs typeface="Inter"/>
                <a:sym typeface="Inter"/>
              </a:rPr>
              <a:t>Limites Identifiées </a:t>
            </a:r>
          </a:p>
        </p:txBody>
      </p:sp>
      <p:pic>
        <p:nvPicPr>
          <p:cNvPr id="63" name="Google Shape;63;p14">
            <a:extLst>
              <a:ext uri="{FF2B5EF4-FFF2-40B4-BE49-F238E27FC236}">
                <a16:creationId xmlns:a16="http://schemas.microsoft.com/office/drawing/2014/main" id="{2CBEA86E-D0C4-D1F8-F645-267FDB844375}"/>
              </a:ext>
            </a:extLst>
          </p:cNvPr>
          <p:cNvPicPr preferRelativeResize="0"/>
          <p:nvPr/>
        </p:nvPicPr>
        <p:blipFill>
          <a:blip r:embed="rId3">
            <a:alphaModFix/>
          </a:blip>
          <a:stretch>
            <a:fillRect/>
          </a:stretch>
        </p:blipFill>
        <p:spPr>
          <a:xfrm>
            <a:off x="448506" y="289900"/>
            <a:ext cx="576900" cy="385904"/>
          </a:xfrm>
          <a:prstGeom prst="rect">
            <a:avLst/>
          </a:prstGeom>
          <a:noFill/>
          <a:ln>
            <a:noFill/>
          </a:ln>
        </p:spPr>
      </p:pic>
      <p:sp>
        <p:nvSpPr>
          <p:cNvPr id="5" name="Google Shape;69;p15">
            <a:extLst>
              <a:ext uri="{FF2B5EF4-FFF2-40B4-BE49-F238E27FC236}">
                <a16:creationId xmlns:a16="http://schemas.microsoft.com/office/drawing/2014/main" id="{796E7631-E2B3-55FE-7EAB-F4DA5B2BC507}"/>
              </a:ext>
            </a:extLst>
          </p:cNvPr>
          <p:cNvSpPr txBox="1">
            <a:spLocks/>
          </p:cNvSpPr>
          <p:nvPr/>
        </p:nvSpPr>
        <p:spPr>
          <a:xfrm>
            <a:off x="805383" y="1397911"/>
            <a:ext cx="2566741" cy="3215468"/>
          </a:xfrm>
          <a:prstGeom prst="rect">
            <a:avLst/>
          </a:prstGeom>
          <a:ln/>
        </p:spPr>
        <p:style>
          <a:lnRef idx="0">
            <a:schemeClr val="accent5"/>
          </a:lnRef>
          <a:fillRef idx="3">
            <a:schemeClr val="accent5"/>
          </a:fillRef>
          <a:effectRef idx="3">
            <a:schemeClr val="accent5"/>
          </a:effectRef>
          <a:fontRef idx="minor">
            <a:schemeClr val="lt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fr-FR" sz="1200" dirty="0"/>
              <a:t>1️⃣  </a:t>
            </a:r>
            <a:r>
              <a:rPr lang="fr-FR" sz="1200" b="1" dirty="0">
                <a:solidFill>
                  <a:srgbClr val="4B5258"/>
                </a:solidFill>
                <a:latin typeface="Inter Medium"/>
                <a:ea typeface="Inter Medium"/>
                <a:cs typeface="Inter Medium"/>
                <a:sym typeface="Inter Medium"/>
              </a:rPr>
              <a:t>Périmètre du prototype : 	</a:t>
            </a:r>
          </a:p>
          <a:p>
            <a:r>
              <a:rPr lang="fr-FR" sz="1200" dirty="0">
                <a:solidFill>
                  <a:srgbClr val="4B5258"/>
                </a:solidFill>
                <a:latin typeface="Inter Medium"/>
                <a:ea typeface="Inter Medium"/>
                <a:cs typeface="Inter Medium"/>
                <a:sym typeface="Inter Medium"/>
              </a:rPr>
              <a:t>1- Le périmètre de données se limite à un échantillon de 2592 produits. </a:t>
            </a:r>
          </a:p>
          <a:p>
            <a:endParaRPr lang="fr-FR" sz="1200" dirty="0">
              <a:solidFill>
                <a:srgbClr val="4B5258"/>
              </a:solidFill>
              <a:latin typeface="Inter Medium"/>
              <a:ea typeface="Inter Medium"/>
              <a:cs typeface="Inter Medium"/>
              <a:sym typeface="Inter Medium"/>
            </a:endParaRPr>
          </a:p>
          <a:p>
            <a:endParaRPr lang="fr-FR" sz="1200" dirty="0">
              <a:solidFill>
                <a:srgbClr val="4B5258"/>
              </a:solidFill>
              <a:latin typeface="Inter Medium"/>
              <a:ea typeface="Inter Medium"/>
              <a:cs typeface="Inter Medium"/>
              <a:sym typeface="Inter Medium"/>
            </a:endParaRPr>
          </a:p>
          <a:p>
            <a:r>
              <a:rPr lang="fr-FR" sz="1200" dirty="0">
                <a:solidFill>
                  <a:srgbClr val="4B5258"/>
                </a:solidFill>
                <a:latin typeface="Inter Medium"/>
                <a:ea typeface="Inter Medium"/>
                <a:cs typeface="Inter Medium"/>
                <a:sym typeface="Inter Medium"/>
              </a:rPr>
              <a:t>2- Tester la sélection des variables et tables pertinentes </a:t>
            </a:r>
          </a:p>
          <a:p>
            <a:pPr algn="ctr"/>
            <a:endParaRPr lang="fr-FR" sz="1200" dirty="0">
              <a:solidFill>
                <a:srgbClr val="4B5258"/>
              </a:solidFill>
              <a:latin typeface="Inter Medium"/>
              <a:ea typeface="Inter Medium"/>
              <a:cs typeface="Inter Medium"/>
              <a:sym typeface="Inter Medium"/>
            </a:endParaRPr>
          </a:p>
        </p:txBody>
      </p:sp>
      <p:sp>
        <p:nvSpPr>
          <p:cNvPr id="6" name="Google Shape;69;p15">
            <a:extLst>
              <a:ext uri="{FF2B5EF4-FFF2-40B4-BE49-F238E27FC236}">
                <a16:creationId xmlns:a16="http://schemas.microsoft.com/office/drawing/2014/main" id="{BFCBDBF0-9F98-7266-A783-FF6471D17C21}"/>
              </a:ext>
            </a:extLst>
          </p:cNvPr>
          <p:cNvSpPr txBox="1">
            <a:spLocks/>
          </p:cNvSpPr>
          <p:nvPr/>
        </p:nvSpPr>
        <p:spPr>
          <a:xfrm>
            <a:off x="5142654" y="1397911"/>
            <a:ext cx="2566741" cy="3215468"/>
          </a:xfrm>
          <a:prstGeom prst="rect">
            <a:avLst/>
          </a:prstGeom>
          <a:ln/>
        </p:spPr>
        <p:style>
          <a:lnRef idx="0">
            <a:schemeClr val="accent5"/>
          </a:lnRef>
          <a:fillRef idx="3">
            <a:schemeClr val="accent5"/>
          </a:fillRef>
          <a:effectRef idx="3">
            <a:schemeClr val="accent5"/>
          </a:effectRef>
          <a:fontRef idx="minor">
            <a:schemeClr val="lt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fr-FR" sz="1200" dirty="0"/>
              <a:t>2️⃣  </a:t>
            </a:r>
            <a:r>
              <a:rPr lang="fr-FR" sz="1200" b="1" dirty="0">
                <a:solidFill>
                  <a:srgbClr val="4B5258"/>
                </a:solidFill>
                <a:latin typeface="Inter Medium"/>
                <a:ea typeface="Inter Medium"/>
                <a:cs typeface="Inter Medium"/>
                <a:sym typeface="Inter Medium"/>
              </a:rPr>
              <a:t>Limitations identifiées : 	</a:t>
            </a:r>
          </a:p>
          <a:p>
            <a:r>
              <a:rPr lang="fr-FR" sz="1050" dirty="0">
                <a:solidFill>
                  <a:srgbClr val="4B5258"/>
                </a:solidFill>
                <a:latin typeface="Inter Medium"/>
                <a:ea typeface="Inter Medium"/>
                <a:cs typeface="Inter Medium"/>
                <a:sym typeface="Inter Medium"/>
              </a:rPr>
              <a:t>1- Biais des données  : </a:t>
            </a:r>
          </a:p>
          <a:p>
            <a:r>
              <a:rPr lang="fr-FR" sz="1050" dirty="0">
                <a:solidFill>
                  <a:srgbClr val="4B5258"/>
                </a:solidFill>
                <a:latin typeface="Inter Medium"/>
                <a:ea typeface="Inter Medium"/>
                <a:cs typeface="Inter Medium"/>
                <a:sym typeface="Inter Medium"/>
              </a:rPr>
              <a:t> </a:t>
            </a:r>
          </a:p>
          <a:p>
            <a:r>
              <a:rPr lang="fr-FR" sz="800" b="1" i="1" dirty="0">
                <a:solidFill>
                  <a:srgbClr val="4B5258"/>
                </a:solidFill>
                <a:latin typeface="Inter Medium"/>
                <a:ea typeface="Inter Medium"/>
                <a:cs typeface="Inter Medium"/>
                <a:sym typeface="Inter Medium"/>
              </a:rPr>
              <a:t>Dominance positive des commentaires de 5</a:t>
            </a:r>
            <a:r>
              <a:rPr lang="fr-FR" sz="800" b="1" i="1" dirty="0"/>
              <a:t>★</a:t>
            </a:r>
            <a:r>
              <a:rPr lang="fr-FR" sz="800" b="1" i="1" dirty="0">
                <a:solidFill>
                  <a:srgbClr val="4B5258"/>
                </a:solidFill>
                <a:latin typeface="Inter Medium"/>
                <a:ea typeface="Inter Medium"/>
                <a:cs typeface="Inter Medium"/>
                <a:sym typeface="Inter Medium"/>
              </a:rPr>
              <a:t> </a:t>
            </a:r>
          </a:p>
          <a:p>
            <a:endParaRPr lang="fr-FR" sz="1050" dirty="0">
              <a:solidFill>
                <a:srgbClr val="4B5258"/>
              </a:solidFill>
              <a:latin typeface="Inter Medium"/>
              <a:ea typeface="Inter Medium"/>
              <a:cs typeface="Inter Medium"/>
              <a:sym typeface="Inter Medium"/>
            </a:endParaRPr>
          </a:p>
          <a:p>
            <a:r>
              <a:rPr lang="fr-FR" sz="1050" dirty="0">
                <a:solidFill>
                  <a:srgbClr val="4B5258"/>
                </a:solidFill>
                <a:latin typeface="Inter Medium"/>
                <a:ea typeface="Inter Medium"/>
                <a:cs typeface="Inter Medium"/>
                <a:sym typeface="Inter Medium"/>
              </a:rPr>
              <a:t>2- Scoring de pertinence : </a:t>
            </a:r>
          </a:p>
          <a:p>
            <a:endParaRPr lang="fr-FR" sz="1050" dirty="0">
              <a:solidFill>
                <a:srgbClr val="4B5258"/>
              </a:solidFill>
              <a:latin typeface="Inter Medium"/>
              <a:ea typeface="Inter Medium"/>
              <a:cs typeface="Inter Medium"/>
              <a:sym typeface="Inter Medium"/>
            </a:endParaRPr>
          </a:p>
          <a:p>
            <a:pPr lvl="1"/>
            <a:r>
              <a:rPr lang="fr-FR" sz="800" b="1" i="1" dirty="0" err="1">
                <a:solidFill>
                  <a:srgbClr val="4B5258"/>
                </a:solidFill>
                <a:latin typeface="Inter Medium"/>
                <a:ea typeface="Inter Medium"/>
                <a:cs typeface="Inter Medium"/>
                <a:sym typeface="Inter Medium"/>
              </a:rPr>
              <a:t>Reviews</a:t>
            </a:r>
            <a:r>
              <a:rPr lang="fr-FR" sz="800" b="1" i="1" dirty="0">
                <a:solidFill>
                  <a:srgbClr val="4B5258"/>
                </a:solidFill>
                <a:latin typeface="Inter Medium"/>
                <a:ea typeface="Inter Medium"/>
                <a:cs typeface="Inter Medium"/>
                <a:sym typeface="Inter Medium"/>
              </a:rPr>
              <a:t> courtes pénalisées même si informatives </a:t>
            </a:r>
          </a:p>
          <a:p>
            <a:pPr lvl="1"/>
            <a:endParaRPr lang="fr-FR" sz="800" dirty="0">
              <a:solidFill>
                <a:srgbClr val="4B5258"/>
              </a:solidFill>
              <a:latin typeface="Inter Medium"/>
              <a:ea typeface="Inter Medium"/>
              <a:cs typeface="Inter Medium"/>
              <a:sym typeface="Inter Medium"/>
            </a:endParaRPr>
          </a:p>
          <a:p>
            <a:pPr lvl="1"/>
            <a:r>
              <a:rPr lang="fr-FR" sz="800" b="1" i="1" dirty="0">
                <a:solidFill>
                  <a:srgbClr val="4B5258"/>
                </a:solidFill>
                <a:latin typeface="Inter Medium"/>
                <a:ea typeface="Inter Medium"/>
                <a:cs typeface="Inter Medium"/>
                <a:sym typeface="Inter Medium"/>
              </a:rPr>
              <a:t>Seuil pertinent analytiquement, mais trop restrictif pour certains types ou avis courts. </a:t>
            </a:r>
          </a:p>
          <a:p>
            <a:r>
              <a:rPr lang="fr-FR" sz="1200" dirty="0">
                <a:solidFill>
                  <a:srgbClr val="4B5258"/>
                </a:solidFill>
                <a:latin typeface="Inter Medium"/>
                <a:ea typeface="Inter Medium"/>
                <a:cs typeface="Inter Medium"/>
                <a:sym typeface="Inter Medium"/>
              </a:rPr>
              <a:t> </a:t>
            </a:r>
          </a:p>
          <a:p>
            <a:pPr algn="ctr"/>
            <a:endParaRPr lang="fr-FR" sz="1200" dirty="0">
              <a:solidFill>
                <a:srgbClr val="4B5258"/>
              </a:solidFill>
              <a:latin typeface="Inter Medium"/>
              <a:ea typeface="Inter Medium"/>
              <a:cs typeface="Inter Medium"/>
              <a:sym typeface="Inter Medium"/>
            </a:endParaRPr>
          </a:p>
        </p:txBody>
      </p:sp>
    </p:spTree>
    <p:extLst>
      <p:ext uri="{BB962C8B-B14F-4D97-AF65-F5344CB8AC3E}">
        <p14:creationId xmlns:p14="http://schemas.microsoft.com/office/powerpoint/2010/main" val="8067906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067DF04E-D46F-3DA0-4FA2-25EA1CF8E289}"/>
            </a:ext>
          </a:extLst>
        </p:cNvPr>
        <p:cNvGrpSpPr/>
        <p:nvPr/>
      </p:nvGrpSpPr>
      <p:grpSpPr>
        <a:xfrm>
          <a:off x="0" y="0"/>
          <a:ext cx="0" cy="0"/>
          <a:chOff x="0" y="0"/>
          <a:chExt cx="0" cy="0"/>
        </a:xfrm>
      </p:grpSpPr>
      <p:sp>
        <p:nvSpPr>
          <p:cNvPr id="62" name="Google Shape;62;p14">
            <a:extLst>
              <a:ext uri="{FF2B5EF4-FFF2-40B4-BE49-F238E27FC236}">
                <a16:creationId xmlns:a16="http://schemas.microsoft.com/office/drawing/2014/main" id="{D5B81593-541A-9256-590C-C59889CA782C}"/>
              </a:ext>
            </a:extLst>
          </p:cNvPr>
          <p:cNvSpPr txBox="1">
            <a:spLocks noGrp="1"/>
          </p:cNvSpPr>
          <p:nvPr>
            <p:ph type="ctrTitle" idx="4294967295"/>
          </p:nvPr>
        </p:nvSpPr>
        <p:spPr>
          <a:xfrm>
            <a:off x="3358255" y="422985"/>
            <a:ext cx="2250218" cy="505637"/>
          </a:xfrm>
          <a:prstGeom prst="rect">
            <a:avLst/>
          </a:prstGeom>
        </p:spPr>
        <p:txBody>
          <a:bodyPr spcFirstLastPara="1" wrap="square" lIns="91425" tIns="91425" rIns="91425" bIns="91425" anchor="t" anchorCtr="0">
            <a:noAutofit/>
          </a:bodyPr>
          <a:lstStyle/>
          <a:p>
            <a:pPr lvl="0"/>
            <a:r>
              <a:rPr lang="fr-FR" sz="1600" dirty="0"/>
              <a:t>🧭 </a:t>
            </a:r>
            <a:r>
              <a:rPr lang="fr-FR" sz="1600" b="1" dirty="0">
                <a:solidFill>
                  <a:srgbClr val="0E3449"/>
                </a:solidFill>
                <a:latin typeface="Inter"/>
                <a:ea typeface="Inter"/>
                <a:cs typeface="Inter"/>
                <a:sym typeface="Inter"/>
              </a:rPr>
              <a:t>Perspectives </a:t>
            </a:r>
          </a:p>
        </p:txBody>
      </p:sp>
      <p:pic>
        <p:nvPicPr>
          <p:cNvPr id="63" name="Google Shape;63;p14">
            <a:extLst>
              <a:ext uri="{FF2B5EF4-FFF2-40B4-BE49-F238E27FC236}">
                <a16:creationId xmlns:a16="http://schemas.microsoft.com/office/drawing/2014/main" id="{25FB2314-7261-81F2-5717-2DF204346CC2}"/>
              </a:ext>
            </a:extLst>
          </p:cNvPr>
          <p:cNvPicPr preferRelativeResize="0"/>
          <p:nvPr/>
        </p:nvPicPr>
        <p:blipFill>
          <a:blip r:embed="rId3">
            <a:alphaModFix/>
          </a:blip>
          <a:stretch>
            <a:fillRect/>
          </a:stretch>
        </p:blipFill>
        <p:spPr>
          <a:xfrm>
            <a:off x="448506" y="289900"/>
            <a:ext cx="576900" cy="385904"/>
          </a:xfrm>
          <a:prstGeom prst="rect">
            <a:avLst/>
          </a:prstGeom>
          <a:noFill/>
          <a:ln>
            <a:noFill/>
          </a:ln>
        </p:spPr>
      </p:pic>
      <p:sp>
        <p:nvSpPr>
          <p:cNvPr id="2" name="ZoneTexte 1">
            <a:extLst>
              <a:ext uri="{FF2B5EF4-FFF2-40B4-BE49-F238E27FC236}">
                <a16:creationId xmlns:a16="http://schemas.microsoft.com/office/drawing/2014/main" id="{066694D2-7FD9-2816-7ECC-79C59BFD6C7B}"/>
              </a:ext>
            </a:extLst>
          </p:cNvPr>
          <p:cNvSpPr txBox="1"/>
          <p:nvPr/>
        </p:nvSpPr>
        <p:spPr>
          <a:xfrm>
            <a:off x="589935" y="1201994"/>
            <a:ext cx="8222226" cy="307777"/>
          </a:xfrm>
          <a:prstGeom prst="rect">
            <a:avLst/>
          </a:prstGeom>
          <a:noFill/>
        </p:spPr>
        <p:txBody>
          <a:bodyPr wrap="square" rtlCol="0">
            <a:spAutoFit/>
          </a:bodyPr>
          <a:lstStyle/>
          <a:p>
            <a:r>
              <a:rPr lang="fr-FR" dirty="0"/>
              <a:t>🔹 </a:t>
            </a:r>
            <a:r>
              <a:rPr lang="fr-FR" b="1" dirty="0">
                <a:solidFill>
                  <a:srgbClr val="0E3449"/>
                </a:solidFill>
                <a:latin typeface="Inter"/>
                <a:ea typeface="Inter"/>
                <a:cs typeface="Inter"/>
                <a:sym typeface="Inter"/>
              </a:rPr>
              <a:t>Objectif </a:t>
            </a:r>
            <a:r>
              <a:rPr lang="fr-FR" dirty="0"/>
              <a:t> :  Faire évoluer le prototype vers une architecture de production scalable.</a:t>
            </a:r>
          </a:p>
        </p:txBody>
      </p:sp>
      <p:sp>
        <p:nvSpPr>
          <p:cNvPr id="7" name="ZoneTexte 6">
            <a:extLst>
              <a:ext uri="{FF2B5EF4-FFF2-40B4-BE49-F238E27FC236}">
                <a16:creationId xmlns:a16="http://schemas.microsoft.com/office/drawing/2014/main" id="{ADB1C4BC-876B-3B63-94E4-60EC7F8766A3}"/>
              </a:ext>
            </a:extLst>
          </p:cNvPr>
          <p:cNvSpPr txBox="1"/>
          <p:nvPr/>
        </p:nvSpPr>
        <p:spPr>
          <a:xfrm>
            <a:off x="589935" y="1725562"/>
            <a:ext cx="6916994" cy="4832092"/>
          </a:xfrm>
          <a:prstGeom prst="rect">
            <a:avLst/>
          </a:prstGeom>
          <a:noFill/>
        </p:spPr>
        <p:txBody>
          <a:bodyPr wrap="square" rtlCol="0">
            <a:spAutoFit/>
          </a:bodyPr>
          <a:lstStyle/>
          <a:p>
            <a:r>
              <a:rPr lang="fr-FR" b="1" dirty="0">
                <a:solidFill>
                  <a:srgbClr val="0E3449"/>
                </a:solidFill>
                <a:latin typeface="Inter"/>
                <a:ea typeface="Inter"/>
                <a:cs typeface="Inter"/>
                <a:sym typeface="Inter"/>
              </a:rPr>
              <a:t>Améliorations prévues  </a:t>
            </a:r>
            <a:r>
              <a:rPr lang="fr-FR" dirty="0"/>
              <a:t>: </a:t>
            </a:r>
          </a:p>
          <a:p>
            <a:endParaRPr lang="fr-FR" dirty="0"/>
          </a:p>
          <a:p>
            <a:pPr marL="285750" indent="-285750">
              <a:buFont typeface="Wingdings" panose="05000000000000000000" pitchFamily="2" charset="2"/>
              <a:buChar char="v"/>
            </a:pPr>
            <a:r>
              <a:rPr lang="fr-FR" dirty="0"/>
              <a:t>Integer un modèle zéro-shot pour enrichir le score de pertinence avec une compréhension sémantique réelle. </a:t>
            </a:r>
          </a:p>
          <a:p>
            <a:pPr marL="285750" indent="-285750">
              <a:buFont typeface="Wingdings" panose="05000000000000000000" pitchFamily="2" charset="2"/>
              <a:buChar char="v"/>
            </a:pPr>
            <a:endParaRPr lang="fr-FR" dirty="0"/>
          </a:p>
          <a:p>
            <a:pPr marL="285750" indent="-285750">
              <a:buFont typeface="Wingdings" panose="05000000000000000000" pitchFamily="2" charset="2"/>
              <a:buChar char="v"/>
            </a:pPr>
            <a:r>
              <a:rPr lang="fr-FR" dirty="0"/>
              <a:t>Filtrer les avis trop courts</a:t>
            </a:r>
          </a:p>
          <a:p>
            <a:pPr marL="285750" indent="-285750">
              <a:buFont typeface="Wingdings" panose="05000000000000000000" pitchFamily="2" charset="2"/>
              <a:buChar char="v"/>
            </a:pPr>
            <a:endParaRPr lang="fr-FR" dirty="0"/>
          </a:p>
          <a:p>
            <a:pPr marL="285750" indent="-285750">
              <a:buFont typeface="Wingdings" panose="05000000000000000000" pitchFamily="2" charset="2"/>
              <a:buChar char="v"/>
            </a:pPr>
            <a:r>
              <a:rPr lang="fr-FR" dirty="0"/>
              <a:t>Réévaluer les pondérations du score en fonction des observations statistiques </a:t>
            </a:r>
          </a:p>
          <a:p>
            <a:pPr marL="285750" indent="-285750">
              <a:buFont typeface="Wingdings" panose="05000000000000000000" pitchFamily="2" charset="2"/>
              <a:buChar char="v"/>
            </a:pPr>
            <a:endParaRPr lang="fr-FR" dirty="0"/>
          </a:p>
          <a:p>
            <a:pPr marL="285750" indent="-285750">
              <a:buFont typeface="Wingdings" panose="05000000000000000000" pitchFamily="2" charset="2"/>
              <a:buChar char="v"/>
            </a:pPr>
            <a:r>
              <a:rPr lang="fr-FR" dirty="0"/>
              <a:t>Elargir le périmètre d’analyse à plusieurs catégories de produits </a:t>
            </a:r>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p:txBody>
      </p:sp>
    </p:spTree>
    <p:extLst>
      <p:ext uri="{BB962C8B-B14F-4D97-AF65-F5344CB8AC3E}">
        <p14:creationId xmlns:p14="http://schemas.microsoft.com/office/powerpoint/2010/main" val="2938514618"/>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1427</Words>
  <Application>Microsoft Office PowerPoint</Application>
  <PresentationFormat>Affichage à l'écran (16:9)</PresentationFormat>
  <Paragraphs>226</Paragraphs>
  <Slides>11</Slides>
  <Notes>11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11</vt:i4>
      </vt:variant>
    </vt:vector>
  </HeadingPairs>
  <TitlesOfParts>
    <vt:vector size="17" baseType="lpstr">
      <vt:lpstr>Inter</vt:lpstr>
      <vt:lpstr>Inter SemiBold</vt:lpstr>
      <vt:lpstr>Arial</vt:lpstr>
      <vt:lpstr>Inter Medium</vt:lpstr>
      <vt:lpstr>Wingdings</vt:lpstr>
      <vt:lpstr>Simple Light</vt:lpstr>
      <vt:lpstr>Analyse des avis produits Amazon</vt:lpstr>
      <vt:lpstr>Problématique &amp; Objectifs du projet</vt:lpstr>
      <vt:lpstr>Problématique &amp; Objectifs du projet</vt:lpstr>
      <vt:lpstr>Approche et plan d’action</vt:lpstr>
      <vt:lpstr>Sélection des données pertinentes </vt:lpstr>
      <vt:lpstr>Prototype exploratoire &amp; scoring des avis </vt:lpstr>
      <vt:lpstr>Exploration des données et biais potentiels </vt:lpstr>
      <vt:lpstr>Justification des pondérations du score de pertinence  </vt:lpstr>
      <vt:lpstr>Analyse des résultats du score et détermination du seuil de Pertinence (76,4)</vt:lpstr>
      <vt:lpstr>⚡ Limites Identifiées </vt:lpstr>
      <vt:lpstr>🧭 Perspectives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NAIT SAIDI Amara</cp:lastModifiedBy>
  <cp:revision>4</cp:revision>
  <dcterms:modified xsi:type="dcterms:W3CDTF">2025-11-05T17:29:27Z</dcterms:modified>
</cp:coreProperties>
</file>